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84" r:id="rId7"/>
    <p:sldId id="268" r:id="rId8"/>
    <p:sldId id="279" r:id="rId9"/>
    <p:sldId id="280" r:id="rId10"/>
    <p:sldId id="281" r:id="rId11"/>
    <p:sldId id="282" r:id="rId12"/>
    <p:sldId id="283" r:id="rId13"/>
    <p:sldId id="285" r:id="rId14"/>
    <p:sldId id="286" r:id="rId15"/>
    <p:sldId id="287" r:id="rId16"/>
    <p:sldId id="288" r:id="rId17"/>
    <p:sldId id="289" r:id="rId18"/>
    <p:sldId id="290" r:id="rId19"/>
    <p:sldId id="291" r:id="rId20"/>
    <p:sldId id="294" r:id="rId21"/>
    <p:sldId id="292" r:id="rId22"/>
    <p:sldId id="293" r:id="rId23"/>
    <p:sldId id="295" r:id="rId24"/>
    <p:sldId id="296" r:id="rId25"/>
    <p:sldId id="300" r:id="rId26"/>
    <p:sldId id="301" r:id="rId27"/>
    <p:sldId id="304" r:id="rId28"/>
    <p:sldId id="303" r:id="rId29"/>
    <p:sldId id="305" r:id="rId30"/>
    <p:sldId id="302" r:id="rId31"/>
    <p:sldId id="306" r:id="rId32"/>
    <p:sldId id="298" r:id="rId33"/>
    <p:sldId id="297" r:id="rId34"/>
    <p:sldId id="299" r:id="rId35"/>
    <p:sldId id="266" r:id="rId36"/>
    <p:sldId id="260" r:id="rId37"/>
    <p:sldId id="261" r:id="rId38"/>
    <p:sldId id="262" r:id="rId39"/>
    <p:sldId id="263" r:id="rId40"/>
    <p:sldId id="269" r:id="rId41"/>
    <p:sldId id="264" r:id="rId42"/>
    <p:sldId id="265" r:id="rId43"/>
    <p:sldId id="270" r:id="rId44"/>
    <p:sldId id="272" r:id="rId45"/>
    <p:sldId id="271" r:id="rId46"/>
    <p:sldId id="273" r:id="rId47"/>
    <p:sldId id="274" r:id="rId48"/>
    <p:sldId id="278" r:id="rId49"/>
    <p:sldId id="275" r:id="rId50"/>
    <p:sldId id="276" r:id="rId51"/>
    <p:sldId id="277" r:id="rId52"/>
    <p:sldId id="311" r:id="rId53"/>
    <p:sldId id="307" r:id="rId54"/>
    <p:sldId id="308" r:id="rId55"/>
    <p:sldId id="309" r:id="rId56"/>
    <p:sldId id="310" r:id="rId57"/>
    <p:sldId id="312" r:id="rId58"/>
    <p:sldId id="313" r:id="rId5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90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3T14:29:31.1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 24575,'52'-1'0,"0"2"0,0 2 0,-1 3 0,0 1 0,61 19 0,187 80 0,-253-94 0,-35-10 0,-1 0 0,1 1 0,-1 0 0,0 1 0,0 0 0,0 1 0,-1 0 0,10 6 0,0 2 0,0-1 0,2-1 0,38 15 0,-36-17 0,0 2 0,36 22 0,215 177 0,-60-49 0,-179-133 0,-2 2 0,-1 1 0,54 68 0,-60-63 0,-2 2 0,20 42 0,-19-32 0,0 2 0,18 29 0,-29-55 0,-1 1 0,-1 1 0,-1 0 0,-1 1 0,-2 0 0,9 45 0,-9-34 0,-1-10 0,-2 0 0,-1 0 0,0 33 0,-4-30 0,1 0 0,1 0 0,10 47 0,-8-48 120,-4-30-143,-1-1 0,1 1-1,0 0 1,0 0 0,-1-1 0,1 1 0,0 0-1,0 0 1,-1 0 0,1-1 0,0 1 0,-1 0-1,1 0 1,0 0 0,-1 0 0,1 0 0,0 0-1,-1 0 1,1 0 0,0 0 0,-1 0-1,1 0 1,0 0 0,-1 0 0,1 0 0,0 0-1,-1 0 1,1 0 0,0 0 0,0 0 0,-1 0-1,1 1 1,0-1 0,-1 0 0,1 0 0,0 0-1,0 0 1,-1 1 0,1-1 0,0 0 0,0 0-1,-1 1 1,1-1 0,0 0 0,0 1 0,0-1-1,-1 0 1,1 0 0,0 1 0,0-1 0,0 0-1,0 1 1,0-1 0,0 0 0,0 1 0,0-1-1,0 0 1,0 1 0,0-1 0,0 0 0,0 1-1,0-1 1,0 1 0,-10-12-6803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3T14:29:33.3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0 167 24575,'2'0'0,"0"1"0,0 0 0,-1-1 0,1 1 0,0 0 0,-1 0 0,1 0 0,-1 0 0,1 0 0,-1 0 0,1 1 0,-1-1 0,0 0 0,0 1 0,2 2 0,21 31 0,-16-23 0,16 19 0,-15-19 0,0-1 0,-1 2 0,0-1 0,-1 1 0,7 16 0,-11-21 0,0-1 0,0 0 0,1 0 0,0 0 0,9 12 0,-12-18 0,0 0 0,-1 0 0,1 0 0,0 0 0,0-1 0,0 1 0,0 0 0,0 0 0,0-1 0,0 1 0,0-1 0,0 1 0,1-1 0,-1 1 0,0-1 0,0 0 0,0 1 0,0-1 0,1 0 0,-1 0 0,0 0 0,0 0 0,1 0 0,-1 0 0,0 0 0,0-1 0,0 1 0,1 0 0,-1-1 0,0 1 0,0-1 0,0 1 0,0-1 0,0 1 0,0-1 0,0 0 0,0 0 0,0 1 0,0-1 0,0 0 0,0 0 0,-1 0 0,1 0 0,0 0 0,0 0 0,-1 0 0,1-1 0,7-11 0,0 0 0,-1 0 0,0-1 0,-1 1 0,-1-1 0,0-1 0,3-17 0,0-7 0,4-60 0,-10 64-55,-2 21-207,1-1 0,0 1 0,1 0 0,5-15 0,-2 12-6564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7428A4-3361-B8D5-EDAB-E673C407DB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CD81FA3-79B0-ED8A-4C70-0FD55A4073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849EEDF-A8EE-67D7-F371-8D5DAA418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6F090-6764-46AE-A868-443D5761A35B}" type="datetimeFigureOut">
              <a:rPr lang="zh-TW" altLang="en-US" smtClean="0"/>
              <a:t>2026/1/23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DBD5EB1-29CC-35A8-CA76-D9A85EE42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0853365-D644-3648-DED7-883DB5212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D9A8A-81E6-4B66-BF48-1B8969804A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4201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95743B-9F3C-EC00-4297-0565FF896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43538B2-312A-780E-5CD4-A2A810735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9EF83FB-282C-A3B0-39AF-4DBE02EBB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6F090-6764-46AE-A868-443D5761A35B}" type="datetimeFigureOut">
              <a:rPr lang="zh-TW" altLang="en-US" smtClean="0"/>
              <a:t>2026/1/23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E9554EA-E29C-0907-3F55-069F04902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0830F88-3241-35DB-AA2E-DDD97CF4C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D9A8A-81E6-4B66-BF48-1B8969804A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8809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FF67EE-553E-B0B1-1A7D-5B0BF4BBE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5B84B4B-1707-5430-C95F-BD640260A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3AFD3FD-CA72-3692-B66E-D138F3315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6F090-6764-46AE-A868-443D5761A35B}" type="datetimeFigureOut">
              <a:rPr lang="zh-TW" altLang="en-US" smtClean="0"/>
              <a:t>2026/1/23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7203B5C-CF77-3DDD-7B79-6C332E30D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0C8A957-30C5-1F46-5B1E-D4C209565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D9A8A-81E6-4B66-BF48-1B8969804A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4724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926B75-FECB-8F43-AC13-ACB0F0B08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9486936-D1C5-3920-7ECA-21F971694D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BFBBAF5-FE85-0BFB-A9EA-2F20CC3BE8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7F594B0-E0F2-BAE2-8432-2561187D4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6F090-6764-46AE-A868-443D5761A35B}" type="datetimeFigureOut">
              <a:rPr lang="zh-TW" altLang="en-US" smtClean="0"/>
              <a:t>2026/1/23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15158B1-6BC7-F492-36C7-CAB2CA354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E20247E-50DF-8A73-1EFA-C3925D44C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D9A8A-81E6-4B66-BF48-1B8969804A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5818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BFE4D5-193C-A9BD-326B-613E33D23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D2665A2-CCA3-2425-3E28-17B798CDD0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8E94967-81FF-05A3-08BD-E4A9EE906F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6528F97-9690-8426-8B81-40B37D2AF4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43BBAE47-5918-86DD-02FD-5B81130C46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22139B2-5B1B-D424-81BE-B467E149E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6F090-6764-46AE-A868-443D5761A35B}" type="datetimeFigureOut">
              <a:rPr lang="zh-TW" altLang="en-US" smtClean="0"/>
              <a:t>2026/1/23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FFD5BF49-3F92-6FE9-E4C8-D0F7496E1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7489248-36DC-7A3F-A296-52A5FB606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D9A8A-81E6-4B66-BF48-1B8969804A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6755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61ACFA-7E86-B237-455D-EB91F64F5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354C988-068A-73E9-D9BD-AC5B0FE40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6F090-6764-46AE-A868-443D5761A35B}" type="datetimeFigureOut">
              <a:rPr lang="zh-TW" altLang="en-US" smtClean="0"/>
              <a:t>2026/1/23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0380C58-4F70-C039-F0C3-7CC5E9E20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B5F65B5-F0FC-9FCA-784E-75EBD5028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D9A8A-81E6-4B66-BF48-1B8969804A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9219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ACE7ABC-C115-C3D7-49D9-B0218D11E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6F090-6764-46AE-A868-443D5761A35B}" type="datetimeFigureOut">
              <a:rPr lang="zh-TW" altLang="en-US" smtClean="0"/>
              <a:t>2026/1/23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9D2D2A9-3746-8DF6-3692-71C821BD0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8B2333D-0A30-1749-6715-4C5B0E2B2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D9A8A-81E6-4B66-BF48-1B8969804A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9889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4BCF39-181A-7A5D-A515-DC9A4C408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9E5DC08-C06C-7E2B-D515-6205CCFC3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48E7341-0A22-AF77-0096-163A91FE49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EF32A0E-8A3C-0D74-3EC2-DD779B230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6F090-6764-46AE-A868-443D5761A35B}" type="datetimeFigureOut">
              <a:rPr lang="zh-TW" altLang="en-US" smtClean="0"/>
              <a:t>2026/1/23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ABE74AD-D006-22C1-F33D-2C455B30A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AF6ECA2-4797-28E2-4522-B9AF3C49D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D9A8A-81E6-4B66-BF48-1B8969804A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0481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FCE327-498C-339A-8AAD-37CC30CAE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2D571B99-570E-D68B-8417-F80E56DA03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799EB4B-A7A7-ED3E-3368-D6A9DFA11B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538BB39-1BE1-771E-E72D-88F0AD0EE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6F090-6764-46AE-A868-443D5761A35B}" type="datetimeFigureOut">
              <a:rPr lang="zh-TW" altLang="en-US" smtClean="0"/>
              <a:t>2026/1/23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C4FEBE8-2828-A468-00E8-7078C8FE7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D8EEDC3-445E-EB1A-AD49-984567CC5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D9A8A-81E6-4B66-BF48-1B8969804A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0083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D64900-91A6-74D4-1857-31EB111B9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EDD6EEF-E9F9-0761-CE06-03A587A94E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1C1D5D9-8FB7-5DB2-2BAB-600D01B10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6F090-6764-46AE-A868-443D5761A35B}" type="datetimeFigureOut">
              <a:rPr lang="zh-TW" altLang="en-US" smtClean="0"/>
              <a:t>2026/1/23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B84EFEA-6C00-5524-4611-9C5DEA7D4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C56264A-622C-F398-381B-BA60196F4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D9A8A-81E6-4B66-BF48-1B8969804A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757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5160D16-0997-9402-EFD9-8AA2AF4FF5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CC64D54-5418-9542-3261-2EA4FCCCB7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8639AB5-DDB7-60EB-D40A-E9E734D1D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6F090-6764-46AE-A868-443D5761A35B}" type="datetimeFigureOut">
              <a:rPr lang="zh-TW" altLang="en-US" smtClean="0"/>
              <a:t>2026/1/23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E11ED0A-973C-F208-EED5-1B52FA7E9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79914BF-F5F2-F7D4-6CA0-2AEDF706E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D9A8A-81E6-4B66-BF48-1B8969804A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7089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EA2CAAE-C233-5019-6F29-4C917B9E2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F6C2133-D6AC-938B-A9BD-8B1F03915C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2B19AC1-3C12-0A62-900B-810098CAC7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26F090-6764-46AE-A868-443D5761A35B}" type="datetimeFigureOut">
              <a:rPr lang="zh-TW" altLang="en-US" smtClean="0"/>
              <a:t>2026/1/23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60DE160-54E1-990E-0519-D289116476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22F7E19-4611-E5D0-92AD-8BAEB4D768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0D9A8A-81E6-4B66-BF48-1B8969804A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1206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s3.us-east-1.amazonaws.com/files.microstrain.com/CV7_GNSS_INS_Online/user_manual_content/coordinate_frames/Vehicle%20Frame.htm" TargetMode="External"/><Relationship Id="rId2" Type="http://schemas.openxmlformats.org/officeDocument/2006/relationships/hyperlink" Target="https://s3.us-east-1.amazonaws.com/files.microstrain.com/CV7_GNSS_INS_Online/user_manual_content/coordinate_frames/Sensor%20Frame.htm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s3.us-east-1.amazonaws.com/files.microstrain.com/CV7_GNSS_INS_Online/external_content/dcp/Commands/0x13/0x13_links.htm" TargetMode="External"/><Relationship Id="rId2" Type="http://schemas.openxmlformats.org/officeDocument/2006/relationships/hyperlink" Target="https://s3.us-east-1.amazonaws.com/files.microstrain.com/CV7_GNSS_INS_Online/external_content/dcp/Commands/0x13/data/0x01.ht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3.us-east-1.amazonaws.com/files.microstrain.com/CV7_GNSS_INS_Online/user_manual_content/installation/Antenna.htm#How" TargetMode="Externa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30.png"/><Relationship Id="rId4" Type="http://schemas.openxmlformats.org/officeDocument/2006/relationships/customXml" Target="../ink/ink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1382167F-334B-C58E-FD40-B2A9768F1B4B}"/>
              </a:ext>
            </a:extLst>
          </p:cNvPr>
          <p:cNvSpPr txBox="1"/>
          <p:nvPr/>
        </p:nvSpPr>
        <p:spPr>
          <a:xfrm>
            <a:off x="3377045" y="2413337"/>
            <a:ext cx="172354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6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配置</a:t>
            </a:r>
          </a:p>
        </p:txBody>
      </p:sp>
    </p:spTree>
    <p:extLst>
      <p:ext uri="{BB962C8B-B14F-4D97-AF65-F5344CB8AC3E}">
        <p14:creationId xmlns:p14="http://schemas.microsoft.com/office/powerpoint/2010/main" val="1591079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AD89B-650E-DD75-F0D9-3DE664528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4BB01256-8C5F-DF00-CEE0-946C7297F36B}"/>
              </a:ext>
            </a:extLst>
          </p:cNvPr>
          <p:cNvSpPr txBox="1"/>
          <p:nvPr/>
        </p:nvSpPr>
        <p:spPr>
          <a:xfrm>
            <a:off x="387927" y="383369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啟用外部航向輔助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(Enable External Heading Aiding)</a:t>
            </a:r>
          </a:p>
          <a:p>
            <a:endParaRPr lang="en-US" altLang="zh-TW" dirty="0"/>
          </a:p>
          <a:p>
            <a:r>
              <a:rPr lang="en-US" altLang="zh-TW" dirty="0"/>
              <a:t>Aiding Measurement Control (0x0D, 0x50)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7" name="圖片 6" descr="一張含有 文字, 螢幕擷取畫面, 字型, 收據 的圖片&#10;&#10;AI 產生的內容可能不正確。">
            <a:extLst>
              <a:ext uri="{FF2B5EF4-FFF2-40B4-BE49-F238E27FC236}">
                <a16:creationId xmlns:a16="http://schemas.microsoft.com/office/drawing/2014/main" id="{7FBD71AD-E8DF-F435-4539-36BA495886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333" y="1739889"/>
            <a:ext cx="6838280" cy="2681427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9B4C1753-738E-3FA5-1147-9FB03B737A23}"/>
              </a:ext>
            </a:extLst>
          </p:cNvPr>
          <p:cNvSpPr txBox="1"/>
          <p:nvPr/>
        </p:nvSpPr>
        <p:spPr>
          <a:xfrm>
            <a:off x="752475" y="5114925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需要有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“</a:t>
            </a: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設定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”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”</a:t>
            </a: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讀取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”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84237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61DAF-033E-B6C9-64D7-DC54BC0DB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E1E8FAE7-CCF9-0BBE-06CE-5DD5514EA050}"/>
              </a:ext>
            </a:extLst>
          </p:cNvPr>
          <p:cNvSpPr txBox="1"/>
          <p:nvPr/>
        </p:nvSpPr>
        <p:spPr>
          <a:xfrm>
            <a:off x="704849" y="457885"/>
            <a:ext cx="74580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設定濾波器初始化來源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(Filter Initialization) -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選擇性但推薦</a:t>
            </a:r>
          </a:p>
        </p:txBody>
      </p:sp>
      <p:pic>
        <p:nvPicPr>
          <p:cNvPr id="5" name="圖片 4" descr="一張含有 文字, 字型, 螢幕擷取畫面, 收據 的圖片&#10;&#10;AI 產生的內容可能不正確。">
            <a:extLst>
              <a:ext uri="{FF2B5EF4-FFF2-40B4-BE49-F238E27FC236}">
                <a16:creationId xmlns:a16="http://schemas.microsoft.com/office/drawing/2014/main" id="{7575DC2F-BF4E-6F20-6CCD-9984F8B5C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749" y="1500071"/>
            <a:ext cx="6792273" cy="166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394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510BA-BAF7-F8B3-F60D-69FC3DFFB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3BFA4725-5A2E-0BAD-7091-1248CE821665}"/>
              </a:ext>
            </a:extLst>
          </p:cNvPr>
          <p:cNvSpPr txBox="1"/>
          <p:nvPr/>
        </p:nvSpPr>
        <p:spPr>
          <a:xfrm>
            <a:off x="1000125" y="71068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3.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儲存設定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(Save Settings)</a:t>
            </a:r>
          </a:p>
        </p:txBody>
      </p:sp>
      <p:pic>
        <p:nvPicPr>
          <p:cNvPr id="5" name="圖片 4" descr="一張含有 文字, 字型, 螢幕擷取畫面, 白色 的圖片&#10;&#10;AI 產生的內容可能不正確。">
            <a:extLst>
              <a:ext uri="{FF2B5EF4-FFF2-40B4-BE49-F238E27FC236}">
                <a16:creationId xmlns:a16="http://schemas.microsoft.com/office/drawing/2014/main" id="{03EDF717-AA83-EE93-4F14-1EB682333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1757266"/>
            <a:ext cx="4458322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920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文字, 螢幕擷取畫面, 字型, 文件 的圖片&#10;&#10;AI 產生的內容可能不正確。">
            <a:extLst>
              <a:ext uri="{FF2B5EF4-FFF2-40B4-BE49-F238E27FC236}">
                <a16:creationId xmlns:a16="http://schemas.microsoft.com/office/drawing/2014/main" id="{57AB441D-FDE4-423B-3511-64148B3E0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3653" y="761628"/>
            <a:ext cx="6944694" cy="533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646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16624025-F1A0-0B83-45FF-EA122B9DCF2D}"/>
              </a:ext>
            </a:extLst>
          </p:cNvPr>
          <p:cNvSpPr txBox="1"/>
          <p:nvPr/>
        </p:nvSpPr>
        <p:spPr>
          <a:xfrm>
            <a:off x="1481570" y="2413337"/>
            <a:ext cx="1020734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6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</a:t>
            </a:r>
            <a:r>
              <a:rPr lang="en-US" altLang="zh-TW" sz="6000" dirty="0"/>
              <a:t>True Heading (0x13, 0x31)</a:t>
            </a:r>
            <a:endParaRPr lang="zh-TW" altLang="en-US" sz="6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94603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C5841-F6D0-7D11-66F9-ACF25DDF3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9F5254EA-325D-C08E-3E19-D1A52BD25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6995" y="523469"/>
            <a:ext cx="6878010" cy="5811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219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0C7EE-DCD8-23A7-C750-4A434870C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一張含有 文字, 螢幕擷取畫面, 字型, 文件 的圖片&#10;&#10;AI 產生的內容可能不正確。">
            <a:extLst>
              <a:ext uri="{FF2B5EF4-FFF2-40B4-BE49-F238E27FC236}">
                <a16:creationId xmlns:a16="http://schemas.microsoft.com/office/drawing/2014/main" id="{5B783744-C2B6-BA84-A05A-81605CC0CC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705" y="918812"/>
            <a:ext cx="6906589" cy="502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070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0A17D-1D7E-1677-F4FC-463215283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, 文件 的圖片&#10;&#10;AI 產生的內容可能不正確。">
            <a:extLst>
              <a:ext uri="{FF2B5EF4-FFF2-40B4-BE49-F238E27FC236}">
                <a16:creationId xmlns:a16="http://schemas.microsoft.com/office/drawing/2014/main" id="{D7834D98-3821-F607-DBF7-9064B3FB8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6968" y="999786"/>
            <a:ext cx="7078063" cy="485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466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C9DDE-524B-8C5B-5EA7-9D3EB5ADB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字型, 螢幕擷取畫面, 代數 的圖片&#10;&#10;AI 產生的內容可能不正確。">
            <a:extLst>
              <a:ext uri="{FF2B5EF4-FFF2-40B4-BE49-F238E27FC236}">
                <a16:creationId xmlns:a16="http://schemas.microsoft.com/office/drawing/2014/main" id="{80FEECA6-5AA7-AC29-1B2A-F060EE4A8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0795" y="366517"/>
            <a:ext cx="6878010" cy="2791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7575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6E0D4-A748-55D3-CADA-5044300C7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, 文件 的圖片&#10;&#10;AI 產生的內容可能不正確。">
            <a:extLst>
              <a:ext uri="{FF2B5EF4-FFF2-40B4-BE49-F238E27FC236}">
                <a16:creationId xmlns:a16="http://schemas.microsoft.com/office/drawing/2014/main" id="{FE3BB384-8C4D-D8A9-482A-999DC9798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5574" y="461548"/>
            <a:ext cx="6820852" cy="5934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769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004C7-1BF9-E056-986F-90DD028A2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, 文件 的圖片&#10;&#10;AI 產生的內容可能不正確。">
            <a:extLst>
              <a:ext uri="{FF2B5EF4-FFF2-40B4-BE49-F238E27FC236}">
                <a16:creationId xmlns:a16="http://schemas.microsoft.com/office/drawing/2014/main" id="{E3ADF344-E227-21F1-132F-584AC05A7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206" y="1180786"/>
            <a:ext cx="6001588" cy="449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4522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文字, 字型, 螢幕擷取畫面, 代數 的圖片&#10;&#10;AI 產生的內容可能不正確。">
            <a:extLst>
              <a:ext uri="{FF2B5EF4-FFF2-40B4-BE49-F238E27FC236}">
                <a16:creationId xmlns:a16="http://schemas.microsoft.com/office/drawing/2014/main" id="{F78E3D74-B508-6C87-0B75-15F382A01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9363" y="1880971"/>
            <a:ext cx="6973273" cy="309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3229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76684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8BE77-1296-523C-EB20-DF662D765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字型, 代數, 收據 的圖片&#10;&#10;AI 產生的內容可能不正確。">
            <a:extLst>
              <a:ext uri="{FF2B5EF4-FFF2-40B4-BE49-F238E27FC236}">
                <a16:creationId xmlns:a16="http://schemas.microsoft.com/office/drawing/2014/main" id="{1CD535CC-0452-5CE2-6B66-EA97DE0F9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218" y="0"/>
            <a:ext cx="6897063" cy="1886213"/>
          </a:xfrm>
          <a:prstGeom prst="rect">
            <a:avLst/>
          </a:prstGeom>
        </p:spPr>
      </p:pic>
      <p:pic>
        <p:nvPicPr>
          <p:cNvPr id="5" name="圖片 4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38308E1E-5534-B0C6-E6FF-0E39082F01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9363" y="2119064"/>
            <a:ext cx="6973273" cy="3553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2838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04311-A0B5-B11A-40BC-75705E447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 descr="一張含有 文字, 螢幕擷取畫面, 字型, 文件 的圖片&#10;&#10;AI 產生的內容可能不正確。">
            <a:extLst>
              <a:ext uri="{FF2B5EF4-FFF2-40B4-BE49-F238E27FC236}">
                <a16:creationId xmlns:a16="http://schemas.microsoft.com/office/drawing/2014/main" id="{A5BE1B3F-5AA1-972E-1DAC-14BA83F2B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2232" y="1056944"/>
            <a:ext cx="6887536" cy="474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3358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9B40F-9802-6376-1B76-DE433D359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FE42068C-9678-884C-48DC-AE9BC4EDE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390" y="1190312"/>
            <a:ext cx="6773220" cy="447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320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EDD29-ECC3-DD11-2B40-BB494C974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字型, 螢幕擷取畫面, 代數 的圖片&#10;&#10;AI 產生的內容可能不正確。">
            <a:extLst>
              <a:ext uri="{FF2B5EF4-FFF2-40B4-BE49-F238E27FC236}">
                <a16:creationId xmlns:a16="http://schemas.microsoft.com/office/drawing/2014/main" id="{7B7F2280-F695-83CC-76CA-865C71DDB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5547" y="1885734"/>
            <a:ext cx="7020905" cy="3086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4188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DD3FB-B912-ECA5-4BF4-CF05C88F1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57682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2F103-D2E7-358E-B7B6-449195897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7A670994-7422-BE6B-0F10-8CF989D16E0A}"/>
              </a:ext>
            </a:extLst>
          </p:cNvPr>
          <p:cNvSpPr txBox="1"/>
          <p:nvPr/>
        </p:nvSpPr>
        <p:spPr>
          <a:xfrm>
            <a:off x="1481570" y="2413337"/>
            <a:ext cx="1020734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6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</a:t>
            </a:r>
            <a:r>
              <a:rPr lang="en-US" altLang="zh-TW" sz="6000" dirty="0"/>
              <a:t>True Heading (0x13, 0x31)</a:t>
            </a:r>
          </a:p>
          <a:p>
            <a:r>
              <a:rPr lang="zh-TW" altLang="en-US" sz="6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考慮 </a:t>
            </a:r>
            <a:r>
              <a:rPr lang="en-US" altLang="zh-TW" sz="6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Frame</a:t>
            </a:r>
            <a:endParaRPr lang="zh-TW" altLang="en-US" sz="6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688529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14E81-F362-FFD5-CAFC-8CD0BFCCB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收據, 字型, 白色 的圖片&#10;&#10;AI 產生的內容可能不正確。">
            <a:extLst>
              <a:ext uri="{FF2B5EF4-FFF2-40B4-BE49-F238E27FC236}">
                <a16:creationId xmlns:a16="http://schemas.microsoft.com/office/drawing/2014/main" id="{7B117C49-7FFA-4C9B-C824-53FBD7D87F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349" y="295166"/>
            <a:ext cx="6639852" cy="1562318"/>
          </a:xfrm>
          <a:prstGeom prst="rect">
            <a:avLst/>
          </a:prstGeom>
        </p:spPr>
      </p:pic>
      <p:pic>
        <p:nvPicPr>
          <p:cNvPr id="5" name="圖片 4" descr="一張含有 文字, 字型, 收據, 螢幕擷取畫面 的圖片&#10;&#10;AI 產生的內容可能不正確。">
            <a:extLst>
              <a:ext uri="{FF2B5EF4-FFF2-40B4-BE49-F238E27FC236}">
                <a16:creationId xmlns:a16="http://schemas.microsoft.com/office/drawing/2014/main" id="{718DB9FB-F788-23C7-DE3D-E888005B9D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9349" y="1857484"/>
            <a:ext cx="6725589" cy="2057687"/>
          </a:xfrm>
          <a:prstGeom prst="rect">
            <a:avLst/>
          </a:prstGeom>
        </p:spPr>
      </p:pic>
      <p:pic>
        <p:nvPicPr>
          <p:cNvPr id="7" name="圖片 6" descr="一張含有 文字, 螢幕擷取畫面, 字型, 代數 的圖片&#10;&#10;AI 產生的內容可能不正確。">
            <a:extLst>
              <a:ext uri="{FF2B5EF4-FFF2-40B4-BE49-F238E27FC236}">
                <a16:creationId xmlns:a16="http://schemas.microsoft.com/office/drawing/2014/main" id="{F32D4499-6F65-4DB6-CCF8-F0254D4734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9349" y="4105058"/>
            <a:ext cx="6277851" cy="233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0182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936C0-9000-9A26-5CF8-C5AE08F30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字型, 螢幕擷取畫面, 白色 的圖片&#10;&#10;AI 產生的內容可能不正確。">
            <a:extLst>
              <a:ext uri="{FF2B5EF4-FFF2-40B4-BE49-F238E27FC236}">
                <a16:creationId xmlns:a16="http://schemas.microsoft.com/office/drawing/2014/main" id="{8597DB5D-0C2F-825E-597C-117D67340F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4832" y="504708"/>
            <a:ext cx="5096586" cy="1676634"/>
          </a:xfrm>
          <a:prstGeom prst="rect">
            <a:avLst/>
          </a:prstGeom>
        </p:spPr>
      </p:pic>
      <p:pic>
        <p:nvPicPr>
          <p:cNvPr id="5" name="圖片 4" descr="一張含有 文字, 字型, 螢幕擷取畫面, 白色 的圖片&#10;&#10;AI 產生的內容可能不正確。">
            <a:extLst>
              <a:ext uri="{FF2B5EF4-FFF2-40B4-BE49-F238E27FC236}">
                <a16:creationId xmlns:a16="http://schemas.microsoft.com/office/drawing/2014/main" id="{318082A9-C7E6-72DF-5043-AE6C674DC9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5600" y="2252575"/>
            <a:ext cx="6620799" cy="1247949"/>
          </a:xfrm>
          <a:prstGeom prst="rect">
            <a:avLst/>
          </a:prstGeom>
        </p:spPr>
      </p:pic>
      <p:pic>
        <p:nvPicPr>
          <p:cNvPr id="7" name="圖片 6" descr="一張含有 文字, 字型, 螢幕擷取畫面, 收據 的圖片&#10;&#10;AI 產生的內容可能不正確。">
            <a:extLst>
              <a:ext uri="{FF2B5EF4-FFF2-40B4-BE49-F238E27FC236}">
                <a16:creationId xmlns:a16="http://schemas.microsoft.com/office/drawing/2014/main" id="{ED593B33-CE3D-062D-C9C9-DD4A0716DF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5600" y="3657450"/>
            <a:ext cx="5877745" cy="21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8657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文字, 字型, 白色 的圖片&#10;&#10;AI 產生的內容可能不正確。">
            <a:extLst>
              <a:ext uri="{FF2B5EF4-FFF2-40B4-BE49-F238E27FC236}">
                <a16:creationId xmlns:a16="http://schemas.microsoft.com/office/drawing/2014/main" id="{A5FFC201-74E2-6D46-C5A0-076B9DD71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391" y="299971"/>
            <a:ext cx="6935168" cy="943107"/>
          </a:xfrm>
          <a:prstGeom prst="rect">
            <a:avLst/>
          </a:prstGeom>
        </p:spPr>
      </p:pic>
      <p:pic>
        <p:nvPicPr>
          <p:cNvPr id="7" name="圖片 6" descr="一張含有 文字, 字型, 螢幕擷取畫面, 白色 的圖片&#10;&#10;AI 產生的內容可能不正確。">
            <a:extLst>
              <a:ext uri="{FF2B5EF4-FFF2-40B4-BE49-F238E27FC236}">
                <a16:creationId xmlns:a16="http://schemas.microsoft.com/office/drawing/2014/main" id="{C37B3BC3-4894-6E01-1069-DCD2C29E56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6049" y="1390514"/>
            <a:ext cx="6639852" cy="1943371"/>
          </a:xfrm>
          <a:prstGeom prst="rect">
            <a:avLst/>
          </a:prstGeom>
        </p:spPr>
      </p:pic>
      <p:pic>
        <p:nvPicPr>
          <p:cNvPr id="9" name="圖片 8" descr="一張含有 文字, 字型, 螢幕擷取畫面, 代數 的圖片&#10;&#10;AI 產生的內容可能不正確。">
            <a:extLst>
              <a:ext uri="{FF2B5EF4-FFF2-40B4-BE49-F238E27FC236}">
                <a16:creationId xmlns:a16="http://schemas.microsoft.com/office/drawing/2014/main" id="{38482599-2F94-F187-4D21-CCB7C3FCD2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7037" y="3524116"/>
            <a:ext cx="6268325" cy="261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8583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47238-8A9C-B526-F5AD-F4CF93662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, 文件 的圖片&#10;&#10;AI 產生的內容可能不正確。">
            <a:extLst>
              <a:ext uri="{FF2B5EF4-FFF2-40B4-BE49-F238E27FC236}">
                <a16:creationId xmlns:a16="http://schemas.microsoft.com/office/drawing/2014/main" id="{5D6BA060-FFA8-F662-E0AE-878FC09F0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4726" y="466443"/>
            <a:ext cx="5896798" cy="4039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4440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78F39-31E7-D286-9D26-274CD74EF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字型, 螢幕擷取畫面, 代數 的圖片&#10;&#10;AI 產生的內容可能不正確。">
            <a:extLst>
              <a:ext uri="{FF2B5EF4-FFF2-40B4-BE49-F238E27FC236}">
                <a16:creationId xmlns:a16="http://schemas.microsoft.com/office/drawing/2014/main" id="{A8C62587-5AE1-7E49-056B-63CF02D13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3036" y="623727"/>
            <a:ext cx="4315427" cy="229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8803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A8D18-5F87-1CF0-A4FF-BBBE4C346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15407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A88BB-8DEA-8926-F32F-BDD1F563A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3580EED8-4976-0975-F0AC-59D45780CBD9}"/>
              </a:ext>
            </a:extLst>
          </p:cNvPr>
          <p:cNvSpPr txBox="1"/>
          <p:nvPr/>
        </p:nvSpPr>
        <p:spPr>
          <a:xfrm>
            <a:off x="3377045" y="2413337"/>
            <a:ext cx="417454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6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Frame </a:t>
            </a:r>
            <a:r>
              <a:rPr lang="zh-TW" altLang="en-US" sz="6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解釋</a:t>
            </a:r>
          </a:p>
        </p:txBody>
      </p:sp>
    </p:spTree>
    <p:extLst>
      <p:ext uri="{BB962C8B-B14F-4D97-AF65-F5344CB8AC3E}">
        <p14:creationId xmlns:p14="http://schemas.microsoft.com/office/powerpoint/2010/main" val="42604150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88A7F-3F70-86EE-9950-3ADE2CBDA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6E4C487F-1045-86CB-D95E-97D594B4610E}"/>
              </a:ext>
            </a:extLst>
          </p:cNvPr>
          <p:cNvSpPr txBox="1"/>
          <p:nvPr/>
        </p:nvSpPr>
        <p:spPr>
          <a:xfrm>
            <a:off x="452437" y="190411"/>
            <a:ext cx="1128712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Sensor Frame</a:t>
            </a:r>
          </a:p>
          <a:p>
            <a:r>
              <a:rPr lang="en-US" altLang="zh-TW" dirty="0">
                <a:hlinkClick r:id="rId2"/>
              </a:rPr>
              <a:t>https://s3.us-east-1.amazonaws.com/files.microstrain.com/CV7_GNSS_INS_Online/user_manual_content/coordinate_frames/Sensor%20Frame.htm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16677F7-2717-9B10-E4B9-465A2025875D}"/>
              </a:ext>
            </a:extLst>
          </p:cNvPr>
          <p:cNvSpPr txBox="1"/>
          <p:nvPr/>
        </p:nvSpPr>
        <p:spPr>
          <a:xfrm>
            <a:off x="519112" y="1838236"/>
            <a:ext cx="1128712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/>
              <a:t>Vehicle Frame</a:t>
            </a:r>
          </a:p>
          <a:p>
            <a:r>
              <a:rPr lang="en-US" altLang="zh-TW" dirty="0">
                <a:hlinkClick r:id="rId3"/>
              </a:rPr>
              <a:t>https://s3.us-east-1.amazonaws.com/files.microstrain.com/CV7_GNSS_INS_Online/user_manual_content/coordinate_frames/Vehicle%20Frame.htm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E382B98-B77D-A72E-46F6-01727194E2FD}"/>
              </a:ext>
            </a:extLst>
          </p:cNvPr>
          <p:cNvSpPr txBox="1"/>
          <p:nvPr/>
        </p:nvSpPr>
        <p:spPr>
          <a:xfrm>
            <a:off x="723901" y="3905250"/>
            <a:ext cx="108394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在 </a:t>
            </a:r>
            <a:r>
              <a:rPr lang="en-US" altLang="zh-TW" b="1" dirty="0"/>
              <a:t>Vehicle Frame</a:t>
            </a:r>
            <a:r>
              <a:rPr lang="zh-TW" altLang="en-US" b="1" dirty="0"/>
              <a:t> 有給出如何從 </a:t>
            </a:r>
            <a:r>
              <a:rPr lang="en-US" altLang="zh-TW" b="1" dirty="0"/>
              <a:t>sensor frame </a:t>
            </a:r>
            <a:r>
              <a:rPr lang="zh-TW" altLang="en-US" b="1" dirty="0"/>
              <a:t>轉換至 </a:t>
            </a:r>
            <a:r>
              <a:rPr lang="en-US" altLang="zh-TW" b="1" dirty="0"/>
              <a:t>Vehicle</a:t>
            </a:r>
            <a:r>
              <a:rPr lang="zh-TW" altLang="en-US" b="1" dirty="0"/>
              <a:t> </a:t>
            </a:r>
            <a:r>
              <a:rPr lang="en-US" altLang="zh-TW" b="1" dirty="0"/>
              <a:t>frame </a:t>
            </a:r>
            <a:r>
              <a:rPr lang="zh-TW" altLang="en-US" b="1" dirty="0"/>
              <a:t>範例，可使用 </a:t>
            </a:r>
            <a:r>
              <a:rPr lang="en-US" altLang="zh-TW" b="1" dirty="0"/>
              <a:t>DCM</a:t>
            </a:r>
            <a:r>
              <a:rPr lang="zh-TW" altLang="en-US" b="1" dirty="0"/>
              <a:t> 轉換，方法跟我使用的 </a:t>
            </a:r>
            <a:r>
              <a:rPr lang="en-US" altLang="zh-TW" b="1" dirty="0"/>
              <a:t>Rcs</a:t>
            </a:r>
            <a:r>
              <a:rPr lang="zh-TW" altLang="en-US" b="1" dirty="0"/>
              <a:t> 相同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676272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9EA02-9B67-076B-E6F5-6B5F95989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3B680E46-B19F-307F-4CC9-C40BDE00D95D}"/>
              </a:ext>
            </a:extLst>
          </p:cNvPr>
          <p:cNvSpPr txBox="1"/>
          <p:nvPr/>
        </p:nvSpPr>
        <p:spPr>
          <a:xfrm>
            <a:off x="3377045" y="2413337"/>
            <a:ext cx="448975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6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GNSS</a:t>
            </a:r>
            <a:r>
              <a:rPr lang="zh-TW" altLang="en-US" sz="6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6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offset</a:t>
            </a:r>
            <a:endParaRPr lang="zh-TW" altLang="en-US" sz="6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051858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06B40-CE9A-4168-EAF3-A335C09A3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73D109-EDB6-15BB-4925-D9BDE18B91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75" y="1599753"/>
            <a:ext cx="958215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The GNSS antenna offsets must be measured and provided to the 3DM-CV7 through the </a:t>
            </a:r>
            <a:r>
              <a:rPr kumimoji="0" lang="zh-TW" altLang="zh-TW" sz="1600" b="1" i="0" u="none" strike="noStrike" cap="none" normalizeH="0" baseline="0" dirty="0">
                <a:ln>
                  <a:noFill/>
                </a:ln>
                <a:solidFill>
                  <a:srgbClr val="076685"/>
                </a:solidFill>
                <a:effectLst/>
                <a:hlinkClick r:id="rId2"/>
              </a:rPr>
              <a:t>Frame Configuration (0x13,0x01)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command if using the </a:t>
            </a:r>
            <a:r>
              <a:rPr kumimoji="0" lang="zh-TW" altLang="zh-TW" sz="1600" b="1" i="0" u="none" strike="noStrike" cap="none" normalizeH="0" baseline="0" dirty="0">
                <a:ln>
                  <a:noFill/>
                </a:ln>
                <a:solidFill>
                  <a:srgbClr val="076685"/>
                </a:solidFill>
                <a:effectLst/>
                <a:hlinkClick r:id="rId3"/>
              </a:rPr>
              <a:t>Aiding (0x13)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commands </a:t>
            </a:r>
            <a:endParaRPr kumimoji="0" lang="en-US" altLang="zh-TW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antenna offsets are measured with respect to the </a:t>
            </a:r>
            <a:r>
              <a:rPr kumimoji="0" lang="en-US" altLang="zh-TW" sz="1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Vehicle Frame </a:t>
            </a:r>
            <a:r>
              <a:rPr kumimoji="0" lang="en-US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from the SENSOR ORIGIN of the 3DM-CV7 to the antenna phase center of the GNSS antenna.</a:t>
            </a:r>
            <a:endParaRPr kumimoji="0" lang="zh-TW" altLang="zh-TW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BD9FE03-D701-A444-D8B5-8C94037B9C98}"/>
              </a:ext>
            </a:extLst>
          </p:cNvPr>
          <p:cNvSpPr txBox="1"/>
          <p:nvPr/>
        </p:nvSpPr>
        <p:spPr>
          <a:xfrm>
            <a:off x="1095374" y="485686"/>
            <a:ext cx="106775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hlinkClick r:id="rId4"/>
              </a:rPr>
              <a:t>https://s3.us-east-1.amazonaws.com/files.microstrain.com/CV7_GNSS_INS_Online/user_manual_content/installation/Antenna.htm#How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894869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36F58-482E-34D9-AEA8-62DABAA13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88476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78058-5D20-4FB3-7056-8139B1623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00CBD277-1904-9785-7A53-BCA95E34441D}"/>
              </a:ext>
            </a:extLst>
          </p:cNvPr>
          <p:cNvSpPr txBox="1"/>
          <p:nvPr/>
        </p:nvSpPr>
        <p:spPr>
          <a:xfrm>
            <a:off x="3377045" y="2413337"/>
            <a:ext cx="576792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6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雙天線 </a:t>
            </a:r>
            <a:r>
              <a:rPr lang="en-US" altLang="zh-TW" sz="6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Heading</a:t>
            </a:r>
            <a:endParaRPr lang="zh-TW" altLang="en-US" sz="6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350035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9C171-EB09-1AE0-DE01-A9299ADB5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橢圓 10">
            <a:extLst>
              <a:ext uri="{FF2B5EF4-FFF2-40B4-BE49-F238E27FC236}">
                <a16:creationId xmlns:a16="http://schemas.microsoft.com/office/drawing/2014/main" id="{EE1BF3BB-3D88-AA3B-7AA0-7AA7279E4CB1}"/>
              </a:ext>
            </a:extLst>
          </p:cNvPr>
          <p:cNvSpPr/>
          <p:nvPr/>
        </p:nvSpPr>
        <p:spPr>
          <a:xfrm>
            <a:off x="1257305" y="3009900"/>
            <a:ext cx="609590" cy="5524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0AA15AA8-2630-409B-5A60-9FF10F8D7D5C}"/>
              </a:ext>
            </a:extLst>
          </p:cNvPr>
          <p:cNvSpPr/>
          <p:nvPr/>
        </p:nvSpPr>
        <p:spPr>
          <a:xfrm>
            <a:off x="3629025" y="47625"/>
            <a:ext cx="609590" cy="5524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2CE46BB-B24F-F3E3-524D-0163E182573E}"/>
              </a:ext>
            </a:extLst>
          </p:cNvPr>
          <p:cNvSpPr txBox="1"/>
          <p:nvPr/>
        </p:nvSpPr>
        <p:spPr>
          <a:xfrm>
            <a:off x="864735" y="2615684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ANT1</a:t>
            </a:r>
            <a:endParaRPr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DB0922C2-B98B-6B85-2801-8EAB5DFF4AE2}"/>
              </a:ext>
            </a:extLst>
          </p:cNvPr>
          <p:cNvSpPr txBox="1"/>
          <p:nvPr/>
        </p:nvSpPr>
        <p:spPr>
          <a:xfrm>
            <a:off x="2901034" y="230743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ANT2</a:t>
            </a:r>
            <a:endParaRPr lang="zh-TW" altLang="en-US" dirty="0"/>
          </a:p>
        </p:txBody>
      </p: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79C807F4-DC44-DACB-5C61-3405010B5761}"/>
              </a:ext>
            </a:extLst>
          </p:cNvPr>
          <p:cNvGrpSpPr/>
          <p:nvPr/>
        </p:nvGrpSpPr>
        <p:grpSpPr>
          <a:xfrm>
            <a:off x="3905082" y="1655972"/>
            <a:ext cx="2979906" cy="4116754"/>
            <a:chOff x="5153025" y="570122"/>
            <a:chExt cx="2979906" cy="4116754"/>
          </a:xfrm>
        </p:grpSpPr>
        <p:grpSp>
          <p:nvGrpSpPr>
            <p:cNvPr id="10" name="群組 9">
              <a:extLst>
                <a:ext uri="{FF2B5EF4-FFF2-40B4-BE49-F238E27FC236}">
                  <a16:creationId xmlns:a16="http://schemas.microsoft.com/office/drawing/2014/main" id="{75DC9A86-B0CB-4E7D-8112-F6029AB1AC11}"/>
                </a:ext>
              </a:extLst>
            </p:cNvPr>
            <p:cNvGrpSpPr/>
            <p:nvPr/>
          </p:nvGrpSpPr>
          <p:grpSpPr>
            <a:xfrm rot="19000396">
              <a:off x="5153025" y="2520434"/>
              <a:ext cx="2979906" cy="2083832"/>
              <a:chOff x="4200525" y="2266950"/>
              <a:chExt cx="2979906" cy="2083832"/>
            </a:xfrm>
          </p:grpSpPr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CE329B93-1132-F1E7-C205-D25E87BE0C28}"/>
                  </a:ext>
                </a:extLst>
              </p:cNvPr>
              <p:cNvSpPr/>
              <p:nvPr/>
            </p:nvSpPr>
            <p:spPr>
              <a:xfrm>
                <a:off x="4200525" y="2266950"/>
                <a:ext cx="2019300" cy="116205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4" name="直線單箭頭接點 3">
                <a:extLst>
                  <a:ext uri="{FF2B5EF4-FFF2-40B4-BE49-F238E27FC236}">
                    <a16:creationId xmlns:a16="http://schemas.microsoft.com/office/drawing/2014/main" id="{6B381D63-40CD-A1FC-75B3-96049C118685}"/>
                  </a:ext>
                </a:extLst>
              </p:cNvPr>
              <p:cNvCxnSpPr/>
              <p:nvPr/>
            </p:nvCxnSpPr>
            <p:spPr>
              <a:xfrm>
                <a:off x="5372100" y="2847975"/>
                <a:ext cx="142875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6DE757FE-BABB-A753-8F98-B32225A33FCB}"/>
                  </a:ext>
                </a:extLst>
              </p:cNvPr>
              <p:cNvSpPr txBox="1"/>
              <p:nvPr/>
            </p:nvSpPr>
            <p:spPr>
              <a:xfrm>
                <a:off x="6867525" y="2663309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/>
                  <a:t>X</a:t>
                </a:r>
                <a:endParaRPr lang="zh-TW" altLang="en-US" dirty="0"/>
              </a:p>
            </p:txBody>
          </p:sp>
          <p:cxnSp>
            <p:nvCxnSpPr>
              <p:cNvPr id="7" name="直線單箭頭接點 6">
                <a:extLst>
                  <a:ext uri="{FF2B5EF4-FFF2-40B4-BE49-F238E27FC236}">
                    <a16:creationId xmlns:a16="http://schemas.microsoft.com/office/drawing/2014/main" id="{7B6332E2-FF3D-F779-6FF8-44928233921D}"/>
                  </a:ext>
                </a:extLst>
              </p:cNvPr>
              <p:cNvCxnSpPr/>
              <p:nvPr/>
            </p:nvCxnSpPr>
            <p:spPr>
              <a:xfrm>
                <a:off x="5372100" y="2847975"/>
                <a:ext cx="0" cy="113347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B75C0D8E-279C-641B-CBA5-6E96B7B6BEDB}"/>
                  </a:ext>
                </a:extLst>
              </p:cNvPr>
              <p:cNvSpPr txBox="1"/>
              <p:nvPr/>
            </p:nvSpPr>
            <p:spPr>
              <a:xfrm>
                <a:off x="5215647" y="3981450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/>
                  <a:t>Y</a:t>
                </a:r>
                <a:endParaRPr lang="zh-TW" altLang="en-US" dirty="0"/>
              </a:p>
            </p:txBody>
          </p:sp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9D1C6AF4-1DF4-DA3A-E6DB-0D26CE976E58}"/>
                  </a:ext>
                </a:extLst>
              </p:cNvPr>
              <p:cNvSpPr txBox="1"/>
              <p:nvPr/>
            </p:nvSpPr>
            <p:spPr>
              <a:xfrm>
                <a:off x="4200525" y="2293977"/>
                <a:ext cx="878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/>
                  <a:t>Sensor</a:t>
                </a:r>
                <a:endParaRPr lang="zh-TW" altLang="en-US" dirty="0"/>
              </a:p>
            </p:txBody>
          </p:sp>
        </p:grpSp>
        <p:cxnSp>
          <p:nvCxnSpPr>
            <p:cNvPr id="16" name="直線單箭頭接點 15">
              <a:extLst>
                <a:ext uri="{FF2B5EF4-FFF2-40B4-BE49-F238E27FC236}">
                  <a16:creationId xmlns:a16="http://schemas.microsoft.com/office/drawing/2014/main" id="{AE6EE0A9-A613-D016-91C1-8E6C78259F5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83350" y="972126"/>
              <a:ext cx="12433" cy="371475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EACEF81A-A669-E05A-6080-C6F8230E1281}"/>
                </a:ext>
              </a:extLst>
            </p:cNvPr>
            <p:cNvSpPr txBox="1"/>
            <p:nvPr/>
          </p:nvSpPr>
          <p:spPr>
            <a:xfrm>
              <a:off x="5909264" y="570122"/>
              <a:ext cx="3481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N</a:t>
              </a:r>
              <a:endParaRPr lang="zh-TW" altLang="en-US" dirty="0"/>
            </a:p>
          </p:txBody>
        </p:sp>
      </p:grpSp>
      <p:pic>
        <p:nvPicPr>
          <p:cNvPr id="20" name="圖片 19" descr="一張含有 文字, 螢幕擷取畫面, 字型, 代數 的圖片&#10;&#10;AI 產生的內容可能不正確。">
            <a:extLst>
              <a:ext uri="{FF2B5EF4-FFF2-40B4-BE49-F238E27FC236}">
                <a16:creationId xmlns:a16="http://schemas.microsoft.com/office/drawing/2014/main" id="{662541D3-E31D-40BF-0BD8-980F1EE41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0431" y="415409"/>
            <a:ext cx="5661069" cy="2600228"/>
          </a:xfrm>
          <a:prstGeom prst="rect">
            <a:avLst/>
          </a:prstGeom>
        </p:spPr>
      </p:pic>
      <p:pic>
        <p:nvPicPr>
          <p:cNvPr id="23" name="圖片 22" descr="一張含有 文字, 字型, 收據, 白色 的圖片&#10;&#10;AI 產生的內容可能不正確。">
            <a:extLst>
              <a:ext uri="{FF2B5EF4-FFF2-40B4-BE49-F238E27FC236}">
                <a16:creationId xmlns:a16="http://schemas.microsoft.com/office/drawing/2014/main" id="{D67CF76A-8EE5-2375-7E67-CA0F6C02D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8535" y="3483630"/>
            <a:ext cx="5612965" cy="1243782"/>
          </a:xfrm>
          <a:prstGeom prst="rect">
            <a:avLst/>
          </a:prstGeom>
        </p:spPr>
      </p:pic>
      <p:sp>
        <p:nvSpPr>
          <p:cNvPr id="24" name="文字方塊 23">
            <a:extLst>
              <a:ext uri="{FF2B5EF4-FFF2-40B4-BE49-F238E27FC236}">
                <a16:creationId xmlns:a16="http://schemas.microsoft.com/office/drawing/2014/main" id="{E7D16C6A-F82C-2233-2A4F-660B333DE4C3}"/>
              </a:ext>
            </a:extLst>
          </p:cNvPr>
          <p:cNvSpPr txBox="1"/>
          <p:nvPr/>
        </p:nvSpPr>
        <p:spPr>
          <a:xfrm>
            <a:off x="7010400" y="5355931"/>
            <a:ext cx="47862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只要雙天線與 </a:t>
            </a:r>
            <a:r>
              <a:rPr lang="en-US" altLang="zh-TW" dirty="0"/>
              <a:t>INS</a:t>
            </a:r>
            <a:r>
              <a:rPr lang="zh-TW" altLang="en-US" dirty="0"/>
              <a:t> 的 </a:t>
            </a:r>
            <a:r>
              <a:rPr lang="en-US" altLang="zh-TW" dirty="0"/>
              <a:t>offset </a:t>
            </a:r>
            <a:r>
              <a:rPr lang="zh-TW" altLang="en-US" dirty="0"/>
              <a:t>設定對，則雙天線 </a:t>
            </a:r>
            <a:r>
              <a:rPr lang="en-US" altLang="zh-TW" dirty="0"/>
              <a:t>(82, 49) </a:t>
            </a:r>
            <a:r>
              <a:rPr lang="zh-TW" altLang="en-US" dirty="0"/>
              <a:t>得出的 </a:t>
            </a:r>
            <a:r>
              <a:rPr lang="en-US" altLang="zh-TW" dirty="0"/>
              <a:t>heading </a:t>
            </a:r>
            <a:r>
              <a:rPr lang="zh-TW" altLang="en-US" dirty="0"/>
              <a:t>就是相對於 </a:t>
            </a:r>
            <a:r>
              <a:rPr lang="en-US" altLang="zh-TW" dirty="0"/>
              <a:t>sensor frame X </a:t>
            </a:r>
            <a:r>
              <a:rPr lang="zh-TW" altLang="en-US" dirty="0"/>
              <a:t>軸 的夾角</a:t>
            </a:r>
          </a:p>
        </p:txBody>
      </p: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0C810535-1336-1262-8320-551883BC4E44}"/>
              </a:ext>
            </a:extLst>
          </p:cNvPr>
          <p:cNvGrpSpPr/>
          <p:nvPr/>
        </p:nvGrpSpPr>
        <p:grpSpPr>
          <a:xfrm>
            <a:off x="4886325" y="3142635"/>
            <a:ext cx="768240" cy="656640"/>
            <a:chOff x="4886325" y="3142635"/>
            <a:chExt cx="768240" cy="65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5" name="筆跡 24">
                  <a:extLst>
                    <a:ext uri="{FF2B5EF4-FFF2-40B4-BE49-F238E27FC236}">
                      <a16:creationId xmlns:a16="http://schemas.microsoft.com/office/drawing/2014/main" id="{09C136CC-F38A-F2E7-0376-6B1B9B648761}"/>
                    </a:ext>
                  </a:extLst>
                </p14:cNvPr>
                <p14:cNvContentPartPr/>
                <p14:nvPr/>
              </p14:nvContentPartPr>
              <p14:xfrm>
                <a:off x="4886325" y="3142635"/>
                <a:ext cx="731520" cy="656640"/>
              </p14:xfrm>
            </p:contentPart>
          </mc:Choice>
          <mc:Fallback>
            <p:pic>
              <p:nvPicPr>
                <p:cNvPr id="25" name="筆跡 24">
                  <a:extLst>
                    <a:ext uri="{FF2B5EF4-FFF2-40B4-BE49-F238E27FC236}">
                      <a16:creationId xmlns:a16="http://schemas.microsoft.com/office/drawing/2014/main" id="{09C136CC-F38A-F2E7-0376-6B1B9B64876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880205" y="3136515"/>
                  <a:ext cx="743760" cy="66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6" name="筆跡 25">
                  <a:extLst>
                    <a:ext uri="{FF2B5EF4-FFF2-40B4-BE49-F238E27FC236}">
                      <a16:creationId xmlns:a16="http://schemas.microsoft.com/office/drawing/2014/main" id="{D2FFFC9E-A46C-E15D-BA97-062554FDB437}"/>
                    </a:ext>
                  </a:extLst>
                </p14:cNvPr>
                <p14:cNvContentPartPr/>
                <p14:nvPr/>
              </p14:nvContentPartPr>
              <p14:xfrm>
                <a:off x="5543325" y="3626115"/>
                <a:ext cx="111240" cy="151560"/>
              </p14:xfrm>
            </p:contentPart>
          </mc:Choice>
          <mc:Fallback>
            <p:pic>
              <p:nvPicPr>
                <p:cNvPr id="26" name="筆跡 25">
                  <a:extLst>
                    <a:ext uri="{FF2B5EF4-FFF2-40B4-BE49-F238E27FC236}">
                      <a16:creationId xmlns:a16="http://schemas.microsoft.com/office/drawing/2014/main" id="{D2FFFC9E-A46C-E15D-BA97-062554FDB43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537205" y="3619995"/>
                  <a:ext cx="123480" cy="1638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E0068A87-E46E-0150-7372-BA9255B33B9D}"/>
              </a:ext>
            </a:extLst>
          </p:cNvPr>
          <p:cNvSpPr txBox="1"/>
          <p:nvPr/>
        </p:nvSpPr>
        <p:spPr>
          <a:xfrm>
            <a:off x="4936910" y="2560026"/>
            <a:ext cx="1571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400" dirty="0">
                <a:solidFill>
                  <a:srgbClr val="FF0000"/>
                </a:solidFill>
              </a:rPr>
              <a:t>雙天線得出的 </a:t>
            </a:r>
            <a:r>
              <a:rPr lang="en-US" altLang="zh-TW" sz="1400" dirty="0">
                <a:solidFill>
                  <a:srgbClr val="FF0000"/>
                </a:solidFill>
              </a:rPr>
              <a:t>heading</a:t>
            </a:r>
            <a:endParaRPr lang="zh-TW" alt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36042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29129-52FE-C73C-0F0E-8417A44F5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88242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C7988-4718-9464-9CC1-BC5EB033B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A0FF4411-4476-6D0A-37B2-576F15A7A955}"/>
              </a:ext>
            </a:extLst>
          </p:cNvPr>
          <p:cNvSpPr txBox="1"/>
          <p:nvPr/>
        </p:nvSpPr>
        <p:spPr>
          <a:xfrm>
            <a:off x="3377045" y="2413337"/>
            <a:ext cx="528061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6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MCU</a:t>
            </a:r>
            <a:r>
              <a:rPr lang="zh-TW" altLang="en-US" sz="6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傳送數據</a:t>
            </a:r>
          </a:p>
        </p:txBody>
      </p:sp>
    </p:spTree>
    <p:extLst>
      <p:ext uri="{BB962C8B-B14F-4D97-AF65-F5344CB8AC3E}">
        <p14:creationId xmlns:p14="http://schemas.microsoft.com/office/powerpoint/2010/main" val="24615507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370D7-FABB-3AEC-F5F2-2DC95C69B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DBFCFD2A-6684-54B0-195E-52137C0A2B47}"/>
              </a:ext>
            </a:extLst>
          </p:cNvPr>
          <p:cNvSpPr txBox="1"/>
          <p:nvPr/>
        </p:nvSpPr>
        <p:spPr>
          <a:xfrm>
            <a:off x="428625" y="4916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MCU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傳送數據流程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(Runtime Loop)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664463EC-9FB5-E99C-A7E2-C0786C3321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12" y="964091"/>
            <a:ext cx="6043366" cy="3000611"/>
          </a:xfrm>
          <a:prstGeom prst="rect">
            <a:avLst/>
          </a:prstGeom>
        </p:spPr>
      </p:pic>
      <p:pic>
        <p:nvPicPr>
          <p:cNvPr id="7" name="圖片 6" descr="一張含有 文字, 螢幕擷取畫面, 功能表, 數字 的圖片&#10;&#10;AI 產生的內容可能不正確。">
            <a:extLst>
              <a:ext uri="{FF2B5EF4-FFF2-40B4-BE49-F238E27FC236}">
                <a16:creationId xmlns:a16="http://schemas.microsoft.com/office/drawing/2014/main" id="{1275E7E1-6994-A75C-0E53-3FA2B3DF1F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7778" y="676275"/>
            <a:ext cx="6001588" cy="485842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E1D0C0BF-7AEE-19F0-2C3E-D0A0A1E70E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2573" y="6295947"/>
            <a:ext cx="5772956" cy="562053"/>
          </a:xfrm>
          <a:prstGeom prst="rect">
            <a:avLst/>
          </a:prstGeom>
        </p:spPr>
      </p:pic>
      <p:pic>
        <p:nvPicPr>
          <p:cNvPr id="11" name="圖片 10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15487BD9-50C7-DC3E-B415-FCDE3D379B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70" y="4666944"/>
            <a:ext cx="5934903" cy="219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7850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B4662-BF89-EFBE-7B85-E277298B1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FE3A27D5-219D-D853-CBA4-325F31F35624}"/>
              </a:ext>
            </a:extLst>
          </p:cNvPr>
          <p:cNvSpPr txBox="1"/>
          <p:nvPr/>
        </p:nvSpPr>
        <p:spPr>
          <a:xfrm>
            <a:off x="209550" y="29158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驗證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HINS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是否使用該數據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(Verification)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 descr="一張含有 文字, 螢幕擷取畫面, 字型, 文件 的圖片&#10;&#10;AI 產生的內容可能不正確。">
            <a:extLst>
              <a:ext uri="{FF2B5EF4-FFF2-40B4-BE49-F238E27FC236}">
                <a16:creationId xmlns:a16="http://schemas.microsoft.com/office/drawing/2014/main" id="{AC8CDC85-49BA-6AD8-DA07-8CF2A446F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41" y="1014045"/>
            <a:ext cx="6754168" cy="5268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3941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F927F-F0BE-81FA-B339-087C4C95A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, 代數 的圖片&#10;&#10;AI 產生的內容可能不正確。">
            <a:extLst>
              <a:ext uri="{FF2B5EF4-FFF2-40B4-BE49-F238E27FC236}">
                <a16:creationId xmlns:a16="http://schemas.microsoft.com/office/drawing/2014/main" id="{94A6E827-31A6-FF73-32E3-B27611258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0811" y="1966708"/>
            <a:ext cx="6830378" cy="292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7969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E7D27-B721-A59F-EAE9-ED1862297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74481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52596-57BB-8972-40AE-DCA008C5E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7A007DCB-9E28-5448-F681-61684F84BE33}"/>
              </a:ext>
            </a:extLst>
          </p:cNvPr>
          <p:cNvSpPr txBox="1"/>
          <p:nvPr/>
        </p:nvSpPr>
        <p:spPr>
          <a:xfrm>
            <a:off x="3377045" y="2413337"/>
            <a:ext cx="330411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6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LED</a:t>
            </a:r>
            <a:r>
              <a:rPr lang="zh-TW" altLang="en-US" sz="6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狀態</a:t>
            </a:r>
          </a:p>
        </p:txBody>
      </p:sp>
    </p:spTree>
    <p:extLst>
      <p:ext uri="{BB962C8B-B14F-4D97-AF65-F5344CB8AC3E}">
        <p14:creationId xmlns:p14="http://schemas.microsoft.com/office/powerpoint/2010/main" val="17718971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AE5F4-2570-4303-B73B-85D5F256F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, 文件 的圖片&#10;&#10;AI 產生的內容可能不正確。">
            <a:extLst>
              <a:ext uri="{FF2B5EF4-FFF2-40B4-BE49-F238E27FC236}">
                <a16:creationId xmlns:a16="http://schemas.microsoft.com/office/drawing/2014/main" id="{1100267B-48B3-E28F-A30E-64121AB4A9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81" y="333095"/>
            <a:ext cx="6147919" cy="3571405"/>
          </a:xfrm>
          <a:prstGeom prst="rect">
            <a:avLst/>
          </a:prstGeom>
        </p:spPr>
      </p:pic>
      <p:pic>
        <p:nvPicPr>
          <p:cNvPr id="5" name="圖片 4" descr="一張含有 文字, 螢幕擷取畫面, 字型, 收據 的圖片&#10;&#10;AI 產生的內容可能不正確。">
            <a:extLst>
              <a:ext uri="{FF2B5EF4-FFF2-40B4-BE49-F238E27FC236}">
                <a16:creationId xmlns:a16="http://schemas.microsoft.com/office/drawing/2014/main" id="{BBB94142-2D19-1A91-12B2-420BF0393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4074" y="3904501"/>
            <a:ext cx="6101243" cy="2758449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C235F970-CBD7-E8B8-1238-7BEE709632AB}"/>
              </a:ext>
            </a:extLst>
          </p:cNvPr>
          <p:cNvSpPr txBox="1"/>
          <p:nvPr/>
        </p:nvSpPr>
        <p:spPr>
          <a:xfrm>
            <a:off x="590550" y="4406562"/>
            <a:ext cx="412164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上電後的燈號變化</a:t>
            </a:r>
            <a:r>
              <a:rPr lang="en-US" altLang="zh-TW" dirty="0"/>
              <a:t>(</a:t>
            </a:r>
            <a:r>
              <a:rPr lang="zh-TW" altLang="en-US" dirty="0"/>
              <a:t>眼睛看起來的感覺</a:t>
            </a:r>
            <a:r>
              <a:rPr lang="en-US" altLang="zh-TW" dirty="0"/>
              <a:t>):</a:t>
            </a:r>
          </a:p>
          <a:p>
            <a:r>
              <a:rPr lang="en-US" altLang="zh-TW" dirty="0"/>
              <a:t>1. </a:t>
            </a:r>
            <a:r>
              <a:rPr lang="zh-TW" altLang="en-US" dirty="0"/>
              <a:t>白黃燈恆亮</a:t>
            </a:r>
          </a:p>
          <a:p>
            <a:r>
              <a:rPr lang="en-US" altLang="zh-TW" dirty="0"/>
              <a:t>2. </a:t>
            </a:r>
            <a:r>
              <a:rPr lang="zh-TW" altLang="en-US" dirty="0"/>
              <a:t>白黃呼吸燈</a:t>
            </a:r>
            <a:r>
              <a:rPr lang="en-US" altLang="zh-TW" dirty="0"/>
              <a:t>(</a:t>
            </a:r>
            <a:r>
              <a:rPr lang="zh-TW" altLang="en-US" dirty="0"/>
              <a:t>緩慢變化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3. </a:t>
            </a:r>
            <a:r>
              <a:rPr lang="zh-TW" altLang="en-US" dirty="0"/>
              <a:t>白黃呼吸燈 </a:t>
            </a:r>
            <a:r>
              <a:rPr lang="en-US" altLang="zh-TW" dirty="0"/>
              <a:t>+ </a:t>
            </a:r>
            <a:r>
              <a:rPr lang="zh-TW" altLang="en-US" dirty="0"/>
              <a:t>白色閃爍</a:t>
            </a:r>
            <a:r>
              <a:rPr lang="en-US" altLang="zh-TW" dirty="0"/>
              <a:t>(1Hz) : ~ 1m</a:t>
            </a:r>
          </a:p>
          <a:p>
            <a:r>
              <a:rPr lang="en-US" altLang="zh-TW" dirty="0"/>
              <a:t>4. </a:t>
            </a:r>
            <a:r>
              <a:rPr lang="zh-TW" altLang="en-US" dirty="0"/>
              <a:t>綠色呼吸燈 </a:t>
            </a:r>
            <a:r>
              <a:rPr lang="en-US" altLang="zh-TW" dirty="0"/>
              <a:t>+ </a:t>
            </a:r>
            <a:r>
              <a:rPr lang="zh-TW" altLang="en-US" dirty="0"/>
              <a:t>白色閃爍</a:t>
            </a:r>
            <a:r>
              <a:rPr lang="en-US" altLang="zh-TW" dirty="0"/>
              <a:t>(1Hz)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265319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8A5D1-1ED2-CFE9-C82A-3F462E442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, 代數 的圖片&#10;&#10;AI 產生的內容可能不正確。">
            <a:extLst>
              <a:ext uri="{FF2B5EF4-FFF2-40B4-BE49-F238E27FC236}">
                <a16:creationId xmlns:a16="http://schemas.microsoft.com/office/drawing/2014/main" id="{E03319E4-5A72-22E2-9AE5-4A37AFC73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43600" cy="3339737"/>
          </a:xfrm>
          <a:prstGeom prst="rect">
            <a:avLst/>
          </a:prstGeom>
        </p:spPr>
      </p:pic>
      <p:pic>
        <p:nvPicPr>
          <p:cNvPr id="5" name="圖片 4" descr="一張含有 文字, 螢幕擷取畫面, 字型, 文件 的圖片&#10;&#10;AI 產生的內容可能不正確。">
            <a:extLst>
              <a:ext uri="{FF2B5EF4-FFF2-40B4-BE49-F238E27FC236}">
                <a16:creationId xmlns:a16="http://schemas.microsoft.com/office/drawing/2014/main" id="{B7FD6949-4F88-F3DF-18C1-5D2D760FBF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25" y="3010768"/>
            <a:ext cx="5496390" cy="3666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90707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36C3A-B7C6-5978-38C7-055B7EE9D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2483E342-DF12-2252-A42D-8F766F625F43}"/>
              </a:ext>
            </a:extLst>
          </p:cNvPr>
          <p:cNvSpPr txBox="1"/>
          <p:nvPr/>
        </p:nvSpPr>
        <p:spPr>
          <a:xfrm>
            <a:off x="742950" y="381000"/>
            <a:ext cx="382348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進入</a:t>
            </a:r>
            <a:r>
              <a:rPr lang="en-US" altLang="zh-TW" dirty="0"/>
              <a:t>PPS</a:t>
            </a:r>
            <a:r>
              <a:rPr lang="zh-TW" altLang="en-US" dirty="0"/>
              <a:t> 白色閃爍時間</a:t>
            </a:r>
            <a:r>
              <a:rPr lang="en-US" altLang="zh-TW" dirty="0"/>
              <a:t>:</a:t>
            </a:r>
          </a:p>
          <a:p>
            <a:endParaRPr lang="en-US" altLang="zh-TW" dirty="0"/>
          </a:p>
          <a:p>
            <a:pPr marL="342900" indent="-342900">
              <a:buAutoNum type="arabicPeriod"/>
            </a:pPr>
            <a:r>
              <a:rPr lang="zh-TW" altLang="en-US" dirty="0"/>
              <a:t>雙天線都有接</a:t>
            </a:r>
            <a:r>
              <a:rPr lang="en-US" altLang="zh-TW" dirty="0"/>
              <a:t>(</a:t>
            </a:r>
            <a:r>
              <a:rPr lang="zh-TW" altLang="en-US" dirty="0"/>
              <a:t>室內</a:t>
            </a:r>
            <a:r>
              <a:rPr lang="en-US" altLang="zh-TW" dirty="0"/>
              <a:t>):</a:t>
            </a:r>
            <a:r>
              <a:rPr lang="zh-TW" altLang="en-US" dirty="0"/>
              <a:t> </a:t>
            </a:r>
            <a:r>
              <a:rPr lang="en-US" altLang="zh-TW" dirty="0"/>
              <a:t>~</a:t>
            </a:r>
            <a:r>
              <a:rPr lang="zh-TW" altLang="en-US" dirty="0"/>
              <a:t> </a:t>
            </a:r>
            <a:r>
              <a:rPr lang="en-US" altLang="zh-TW" dirty="0"/>
              <a:t>1</a:t>
            </a:r>
            <a:r>
              <a:rPr lang="zh-TW" altLang="en-US" dirty="0"/>
              <a:t> </a:t>
            </a:r>
            <a:r>
              <a:rPr lang="en-US" altLang="zh-TW" dirty="0"/>
              <a:t>min</a:t>
            </a:r>
          </a:p>
          <a:p>
            <a:pPr marL="342900" indent="-342900">
              <a:buAutoNum type="arabicPeriod"/>
            </a:pPr>
            <a:r>
              <a:rPr lang="zh-TW" altLang="en-US" dirty="0"/>
              <a:t>雙天線都沒接</a:t>
            </a:r>
            <a:r>
              <a:rPr lang="en-US" altLang="zh-TW" dirty="0"/>
              <a:t>:</a:t>
            </a:r>
            <a:r>
              <a:rPr lang="zh-TW" altLang="en-US" dirty="0"/>
              <a:t> 超過 </a:t>
            </a:r>
            <a:r>
              <a:rPr lang="en-US" altLang="zh-TW" dirty="0"/>
              <a:t>2 min</a:t>
            </a:r>
            <a:r>
              <a:rPr lang="zh-TW" altLang="en-US" dirty="0"/>
              <a:t> 都沒有</a:t>
            </a:r>
            <a:endParaRPr lang="en-US" altLang="zh-TW" dirty="0"/>
          </a:p>
          <a:p>
            <a:pPr marL="342900" indent="-342900">
              <a:buAutoNum type="arabicPeriod"/>
            </a:pPr>
            <a:r>
              <a:rPr lang="zh-TW" altLang="en-US" dirty="0"/>
              <a:t>接</a:t>
            </a:r>
            <a:r>
              <a:rPr lang="en-US" altLang="zh-TW" dirty="0"/>
              <a:t>1</a:t>
            </a:r>
            <a:r>
              <a:rPr lang="zh-TW" altLang="en-US" dirty="0"/>
              <a:t>號天線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 ~</a:t>
            </a:r>
            <a:r>
              <a:rPr lang="zh-TW" altLang="en-US" dirty="0"/>
              <a:t> </a:t>
            </a:r>
            <a:r>
              <a:rPr lang="en-US" altLang="zh-TW" dirty="0"/>
              <a:t>1min 11s</a:t>
            </a:r>
          </a:p>
          <a:p>
            <a:pPr marL="342900" indent="-342900">
              <a:buAutoNum type="arabicPeriod"/>
            </a:pPr>
            <a:r>
              <a:rPr lang="zh-TW" altLang="en-US" dirty="0"/>
              <a:t>接</a:t>
            </a:r>
            <a:r>
              <a:rPr lang="en-US" altLang="zh-TW" dirty="0"/>
              <a:t>2</a:t>
            </a:r>
            <a:r>
              <a:rPr lang="zh-TW" altLang="en-US" dirty="0"/>
              <a:t>號天線</a:t>
            </a:r>
            <a:r>
              <a:rPr lang="en-US" altLang="zh-TW" dirty="0"/>
              <a:t>:</a:t>
            </a:r>
            <a:r>
              <a:rPr lang="zh-TW" altLang="en-US" dirty="0"/>
              <a:t>超過 </a:t>
            </a:r>
            <a:r>
              <a:rPr lang="en-US" altLang="zh-TW" dirty="0"/>
              <a:t>2 min</a:t>
            </a:r>
            <a:r>
              <a:rPr lang="zh-TW" altLang="en-US" dirty="0"/>
              <a:t> 都沒有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BBE7792-E171-2E61-F721-F3565B5A38DC}"/>
              </a:ext>
            </a:extLst>
          </p:cNvPr>
          <p:cNvSpPr txBox="1"/>
          <p:nvPr/>
        </p:nvSpPr>
        <p:spPr>
          <a:xfrm>
            <a:off x="876300" y="2505075"/>
            <a:ext cx="502881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經過測試</a:t>
            </a:r>
            <a:r>
              <a:rPr lang="en-US" altLang="zh-TW" dirty="0"/>
              <a:t>:</a:t>
            </a:r>
          </a:p>
          <a:p>
            <a:pPr marL="342900" indent="-342900">
              <a:buAutoNum type="arabicPeriod"/>
            </a:pPr>
            <a:r>
              <a:rPr lang="zh-TW" altLang="en-US" dirty="0"/>
              <a:t>預設是配置 </a:t>
            </a:r>
            <a:r>
              <a:rPr lang="en-US" altLang="zh-TW" dirty="0"/>
              <a:t>PPS</a:t>
            </a:r>
            <a:r>
              <a:rPr lang="zh-TW" altLang="en-US" dirty="0"/>
              <a:t> 來源是天線</a:t>
            </a:r>
            <a:r>
              <a:rPr lang="en-US" altLang="zh-TW" dirty="0"/>
              <a:t>1</a:t>
            </a:r>
          </a:p>
          <a:p>
            <a:pPr marL="342900" indent="-342900">
              <a:buAutoNum type="arabicPeriod"/>
            </a:pPr>
            <a:r>
              <a:rPr lang="zh-TW" altLang="en-US" dirty="0"/>
              <a:t>若配置成內部 </a:t>
            </a:r>
            <a:r>
              <a:rPr lang="en-US" altLang="zh-TW" dirty="0"/>
              <a:t>Crystal </a:t>
            </a:r>
            <a:r>
              <a:rPr lang="zh-TW" altLang="en-US" dirty="0"/>
              <a:t>則配置完成後馬上閃爍</a:t>
            </a:r>
          </a:p>
        </p:txBody>
      </p:sp>
    </p:spTree>
    <p:extLst>
      <p:ext uri="{BB962C8B-B14F-4D97-AF65-F5344CB8AC3E}">
        <p14:creationId xmlns:p14="http://schemas.microsoft.com/office/powerpoint/2010/main" val="187143419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2B970-D0B9-FFA6-FA66-CE9F05817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4F810112-C8D6-06D6-2FF5-307AC0B8FCC7}"/>
              </a:ext>
            </a:extLst>
          </p:cNvPr>
          <p:cNvSpPr txBox="1"/>
          <p:nvPr/>
        </p:nvSpPr>
        <p:spPr>
          <a:xfrm>
            <a:off x="3377045" y="2413337"/>
            <a:ext cx="326243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6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時間同步</a:t>
            </a:r>
          </a:p>
        </p:txBody>
      </p:sp>
    </p:spTree>
    <p:extLst>
      <p:ext uri="{BB962C8B-B14F-4D97-AF65-F5344CB8AC3E}">
        <p14:creationId xmlns:p14="http://schemas.microsoft.com/office/powerpoint/2010/main" val="10826464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F283B-8715-D786-7227-F344C34FC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, 代數 的圖片&#10;&#10;AI 產生的內容可能不正確。">
            <a:extLst>
              <a:ext uri="{FF2B5EF4-FFF2-40B4-BE49-F238E27FC236}">
                <a16:creationId xmlns:a16="http://schemas.microsoft.com/office/drawing/2014/main" id="{4A647E9C-613E-F750-6BD7-AE315B8355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8890" y="337871"/>
            <a:ext cx="6954220" cy="382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8831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9B6DC-785F-FA3D-B5CC-5A1AB4917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, 文件 的圖片&#10;&#10;AI 產生的內容可能不正確。">
            <a:extLst>
              <a:ext uri="{FF2B5EF4-FFF2-40B4-BE49-F238E27FC236}">
                <a16:creationId xmlns:a16="http://schemas.microsoft.com/office/drawing/2014/main" id="{1F0F10EF-B507-A3EB-A1B4-FCC8B759E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047" y="1123628"/>
            <a:ext cx="6839905" cy="461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49888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2C6AB-DA41-DF9A-D04C-7A4EFE67E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, 文件 的圖片&#10;&#10;AI 產生的內容可能不正確。">
            <a:extLst>
              <a:ext uri="{FF2B5EF4-FFF2-40B4-BE49-F238E27FC236}">
                <a16:creationId xmlns:a16="http://schemas.microsoft.com/office/drawing/2014/main" id="{399A743E-10AE-0D24-9854-C866D3EFD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047" y="1161733"/>
            <a:ext cx="6839905" cy="453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44271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45FAA-6EF5-8E3B-D5D4-8F727334B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114994CE-C2B8-BDF7-4A69-BFF7BD136FF6}"/>
              </a:ext>
            </a:extLst>
          </p:cNvPr>
          <p:cNvSpPr txBox="1"/>
          <p:nvPr/>
        </p:nvSpPr>
        <p:spPr>
          <a:xfrm>
            <a:off x="3377045" y="2413337"/>
            <a:ext cx="249299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6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坐標系</a:t>
            </a:r>
          </a:p>
        </p:txBody>
      </p:sp>
    </p:spTree>
    <p:extLst>
      <p:ext uri="{BB962C8B-B14F-4D97-AF65-F5344CB8AC3E}">
        <p14:creationId xmlns:p14="http://schemas.microsoft.com/office/powerpoint/2010/main" val="8280880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9571C-00BA-32FB-BCF2-4FB3FE72B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B824359-092E-60CD-DC9A-E211A57FCAE6}"/>
              </a:ext>
            </a:extLst>
          </p:cNvPr>
          <p:cNvSpPr/>
          <p:nvPr/>
        </p:nvSpPr>
        <p:spPr>
          <a:xfrm>
            <a:off x="329731" y="2558498"/>
            <a:ext cx="5648325" cy="20193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137089-DD24-E157-F333-AF4C61BD3138}"/>
              </a:ext>
            </a:extLst>
          </p:cNvPr>
          <p:cNvSpPr/>
          <p:nvPr/>
        </p:nvSpPr>
        <p:spPr>
          <a:xfrm>
            <a:off x="691681" y="2782335"/>
            <a:ext cx="1152525" cy="15716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55839CA4-6F22-0F53-59B6-1BF56D4C7B2C}"/>
              </a:ext>
            </a:extLst>
          </p:cNvPr>
          <p:cNvCxnSpPr>
            <a:cxnSpLocks/>
          </p:cNvCxnSpPr>
          <p:nvPr/>
        </p:nvCxnSpPr>
        <p:spPr>
          <a:xfrm>
            <a:off x="1344143" y="3491947"/>
            <a:ext cx="0" cy="3968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23528953-1E75-E30E-09A1-32A1600BDFEC}"/>
              </a:ext>
            </a:extLst>
          </p:cNvPr>
          <p:cNvCxnSpPr>
            <a:cxnSpLocks/>
          </p:cNvCxnSpPr>
          <p:nvPr/>
        </p:nvCxnSpPr>
        <p:spPr>
          <a:xfrm flipH="1">
            <a:off x="977431" y="3498296"/>
            <a:ext cx="3667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65D691BF-0386-6FB7-9C4D-44D13DCC2BB7}"/>
              </a:ext>
            </a:extLst>
          </p:cNvPr>
          <p:cNvSpPr txBox="1"/>
          <p:nvPr/>
        </p:nvSpPr>
        <p:spPr>
          <a:xfrm>
            <a:off x="1187690" y="381607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X</a:t>
            </a:r>
            <a:endParaRPr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7971A02-4375-67D7-D2E3-77970D112290}"/>
              </a:ext>
            </a:extLst>
          </p:cNvPr>
          <p:cNvSpPr txBox="1"/>
          <p:nvPr/>
        </p:nvSpPr>
        <p:spPr>
          <a:xfrm>
            <a:off x="731909" y="3307281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Y</a:t>
            </a:r>
            <a:endParaRPr lang="zh-TW" altLang="en-US" dirty="0"/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A25A342B-80CD-A07D-51ED-8C817CA0CD9F}"/>
              </a:ext>
            </a:extLst>
          </p:cNvPr>
          <p:cNvCxnSpPr/>
          <p:nvPr/>
        </p:nvCxnSpPr>
        <p:spPr>
          <a:xfrm>
            <a:off x="4990769" y="3676613"/>
            <a:ext cx="163995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BAC7C01D-04E5-5776-2517-CC0947671FF5}"/>
              </a:ext>
            </a:extLst>
          </p:cNvPr>
          <p:cNvSpPr txBox="1"/>
          <p:nvPr/>
        </p:nvSpPr>
        <p:spPr>
          <a:xfrm>
            <a:off x="1081837" y="2790411"/>
            <a:ext cx="10309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/>
              <a:t>Sensor Frame</a:t>
            </a:r>
            <a:endParaRPr lang="zh-TW" altLang="en-US" sz="1400" dirty="0"/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37153419-F754-7FCC-9D70-3CF6A287E131}"/>
              </a:ext>
            </a:extLst>
          </p:cNvPr>
          <p:cNvCxnSpPr>
            <a:cxnSpLocks/>
          </p:cNvCxnSpPr>
          <p:nvPr/>
        </p:nvCxnSpPr>
        <p:spPr>
          <a:xfrm>
            <a:off x="4997119" y="3670263"/>
            <a:ext cx="0" cy="16060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C676E369-9B56-04CB-2D1E-C8CAF40129C3}"/>
              </a:ext>
            </a:extLst>
          </p:cNvPr>
          <p:cNvSpPr txBox="1"/>
          <p:nvPr/>
        </p:nvSpPr>
        <p:spPr>
          <a:xfrm>
            <a:off x="6741475" y="348559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X</a:t>
            </a:r>
            <a:endParaRPr lang="zh-TW" altLang="en-US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ED1D4F2A-CFCD-5942-10AF-7D73B26193FE}"/>
              </a:ext>
            </a:extLst>
          </p:cNvPr>
          <p:cNvSpPr txBox="1"/>
          <p:nvPr/>
        </p:nvSpPr>
        <p:spPr>
          <a:xfrm>
            <a:off x="4834316" y="5326581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Y</a:t>
            </a:r>
            <a:endParaRPr lang="zh-TW" altLang="en-US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4503893E-BBC2-8AD0-1FCA-677044AE44B3}"/>
              </a:ext>
            </a:extLst>
          </p:cNvPr>
          <p:cNvSpPr txBox="1"/>
          <p:nvPr/>
        </p:nvSpPr>
        <p:spPr>
          <a:xfrm>
            <a:off x="5081389" y="2587986"/>
            <a:ext cx="10309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/>
              <a:t>Body Frame</a:t>
            </a:r>
            <a:endParaRPr lang="zh-TW" altLang="en-US" sz="1400" dirty="0"/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D88B48E2-4A00-4FB8-2B01-813A37FA5791}"/>
              </a:ext>
            </a:extLst>
          </p:cNvPr>
          <p:cNvCxnSpPr>
            <a:cxnSpLocks/>
          </p:cNvCxnSpPr>
          <p:nvPr/>
        </p:nvCxnSpPr>
        <p:spPr>
          <a:xfrm>
            <a:off x="1344143" y="1571625"/>
            <a:ext cx="24087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E106FE00-53C6-FB79-28DD-8123B68D4599}"/>
              </a:ext>
            </a:extLst>
          </p:cNvPr>
          <p:cNvSpPr txBox="1"/>
          <p:nvPr/>
        </p:nvSpPr>
        <p:spPr>
          <a:xfrm>
            <a:off x="2919724" y="111467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真北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5E5AB7DA-4EC8-BB19-3DCC-8B27AE15FE26}"/>
              </a:ext>
            </a:extLst>
          </p:cNvPr>
          <p:cNvSpPr txBox="1"/>
          <p:nvPr/>
        </p:nvSpPr>
        <p:spPr>
          <a:xfrm>
            <a:off x="5138530" y="576063"/>
            <a:ext cx="672373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外部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Heading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送入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INS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時須先轉成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sensor frame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相對於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NED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間的角度。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Body frame:</a:t>
            </a:r>
          </a:p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FOG_IMU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經過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Rcs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轉換成機體方位的坐標系，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軸朝前行方向，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Z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軸朝下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Sensor frame: </a:t>
            </a:r>
          </a:p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INS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自己的坐標系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AEF36266-8389-63D9-8D7C-34006991A717}"/>
              </a:ext>
            </a:extLst>
          </p:cNvPr>
          <p:cNvGrpSpPr/>
          <p:nvPr/>
        </p:nvGrpSpPr>
        <p:grpSpPr>
          <a:xfrm>
            <a:off x="8649089" y="3676613"/>
            <a:ext cx="2198768" cy="1934391"/>
            <a:chOff x="8778825" y="4169294"/>
            <a:chExt cx="2198768" cy="1934391"/>
          </a:xfrm>
        </p:grpSpPr>
        <p:cxnSp>
          <p:nvCxnSpPr>
            <p:cNvPr id="25" name="直線單箭頭接點 24">
              <a:extLst>
                <a:ext uri="{FF2B5EF4-FFF2-40B4-BE49-F238E27FC236}">
                  <a16:creationId xmlns:a16="http://schemas.microsoft.com/office/drawing/2014/main" id="{0E3D4A27-3308-E656-8460-8705F95230FA}"/>
                </a:ext>
              </a:extLst>
            </p:cNvPr>
            <p:cNvCxnSpPr/>
            <p:nvPr/>
          </p:nvCxnSpPr>
          <p:spPr>
            <a:xfrm>
              <a:off x="8935278" y="4353960"/>
              <a:ext cx="172940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單箭頭接點 25">
              <a:extLst>
                <a:ext uri="{FF2B5EF4-FFF2-40B4-BE49-F238E27FC236}">
                  <a16:creationId xmlns:a16="http://schemas.microsoft.com/office/drawing/2014/main" id="{A95CC5D5-F216-95A6-0681-AAEF70B9ACB9}"/>
                </a:ext>
              </a:extLst>
            </p:cNvPr>
            <p:cNvCxnSpPr>
              <a:cxnSpLocks/>
            </p:cNvCxnSpPr>
            <p:nvPr/>
          </p:nvCxnSpPr>
          <p:spPr>
            <a:xfrm>
              <a:off x="8935278" y="4353960"/>
              <a:ext cx="0" cy="146705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0E1A59CB-D54F-61CB-A5DC-DE12AB951DDD}"/>
                </a:ext>
              </a:extLst>
            </p:cNvPr>
            <p:cNvSpPr txBox="1"/>
            <p:nvPr/>
          </p:nvSpPr>
          <p:spPr>
            <a:xfrm>
              <a:off x="10664687" y="416929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>
                  <a:solidFill>
                    <a:srgbClr val="002060"/>
                  </a:solidFill>
                </a:rPr>
                <a:t>X</a:t>
              </a:r>
              <a:endParaRPr lang="zh-TW" altLang="en-US" dirty="0">
                <a:solidFill>
                  <a:srgbClr val="002060"/>
                </a:solidFill>
              </a:endParaRPr>
            </a:p>
          </p:txBody>
        </p:sp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A1B64E58-E976-B471-97AE-9FAC725D2265}"/>
                </a:ext>
              </a:extLst>
            </p:cNvPr>
            <p:cNvSpPr txBox="1"/>
            <p:nvPr/>
          </p:nvSpPr>
          <p:spPr>
            <a:xfrm>
              <a:off x="8778825" y="5734353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>
                  <a:solidFill>
                    <a:srgbClr val="002060"/>
                  </a:solidFill>
                </a:rPr>
                <a:t>Y</a:t>
              </a:r>
              <a:endParaRPr lang="zh-TW" altLang="en-US" dirty="0">
                <a:solidFill>
                  <a:srgbClr val="002060"/>
                </a:solidFill>
              </a:endParaRPr>
            </a:p>
          </p:txBody>
        </p:sp>
      </p:grpSp>
      <p:grpSp>
        <p:nvGrpSpPr>
          <p:cNvPr id="31" name="群組 30">
            <a:extLst>
              <a:ext uri="{FF2B5EF4-FFF2-40B4-BE49-F238E27FC236}">
                <a16:creationId xmlns:a16="http://schemas.microsoft.com/office/drawing/2014/main" id="{3551E5DF-37C9-0733-921E-24A8B76DDBDF}"/>
              </a:ext>
            </a:extLst>
          </p:cNvPr>
          <p:cNvGrpSpPr/>
          <p:nvPr/>
        </p:nvGrpSpPr>
        <p:grpSpPr>
          <a:xfrm rot="2830644">
            <a:off x="7777551" y="4117208"/>
            <a:ext cx="2198768" cy="1934391"/>
            <a:chOff x="8778825" y="4169294"/>
            <a:chExt cx="2198768" cy="1934391"/>
          </a:xfrm>
        </p:grpSpPr>
        <p:cxnSp>
          <p:nvCxnSpPr>
            <p:cNvPr id="32" name="直線單箭頭接點 31">
              <a:extLst>
                <a:ext uri="{FF2B5EF4-FFF2-40B4-BE49-F238E27FC236}">
                  <a16:creationId xmlns:a16="http://schemas.microsoft.com/office/drawing/2014/main" id="{ABC14E97-6468-2539-0F6F-1A5D3F9BFC4B}"/>
                </a:ext>
              </a:extLst>
            </p:cNvPr>
            <p:cNvCxnSpPr/>
            <p:nvPr/>
          </p:nvCxnSpPr>
          <p:spPr>
            <a:xfrm>
              <a:off x="8935278" y="4353960"/>
              <a:ext cx="1729409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單箭頭接點 32">
              <a:extLst>
                <a:ext uri="{FF2B5EF4-FFF2-40B4-BE49-F238E27FC236}">
                  <a16:creationId xmlns:a16="http://schemas.microsoft.com/office/drawing/2014/main" id="{112D605A-FC2F-4150-2E3A-6671ECFB7C79}"/>
                </a:ext>
              </a:extLst>
            </p:cNvPr>
            <p:cNvCxnSpPr>
              <a:cxnSpLocks/>
            </p:cNvCxnSpPr>
            <p:nvPr/>
          </p:nvCxnSpPr>
          <p:spPr>
            <a:xfrm>
              <a:off x="8935278" y="4353960"/>
              <a:ext cx="0" cy="146705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文字方塊 33">
              <a:extLst>
                <a:ext uri="{FF2B5EF4-FFF2-40B4-BE49-F238E27FC236}">
                  <a16:creationId xmlns:a16="http://schemas.microsoft.com/office/drawing/2014/main" id="{26192531-E93C-DB59-3C09-8B8A13DA8DF8}"/>
                </a:ext>
              </a:extLst>
            </p:cNvPr>
            <p:cNvSpPr txBox="1"/>
            <p:nvPr/>
          </p:nvSpPr>
          <p:spPr>
            <a:xfrm>
              <a:off x="10664687" y="416929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>
                  <a:solidFill>
                    <a:srgbClr val="FF0000"/>
                  </a:solidFill>
                </a:rPr>
                <a:t>X</a:t>
              </a:r>
              <a:endParaRPr lang="zh-TW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35" name="文字方塊 34">
              <a:extLst>
                <a:ext uri="{FF2B5EF4-FFF2-40B4-BE49-F238E27FC236}">
                  <a16:creationId xmlns:a16="http://schemas.microsoft.com/office/drawing/2014/main" id="{143A18E9-B14E-0870-E9BD-04D51D18BB5A}"/>
                </a:ext>
              </a:extLst>
            </p:cNvPr>
            <p:cNvSpPr txBox="1"/>
            <p:nvPr/>
          </p:nvSpPr>
          <p:spPr>
            <a:xfrm>
              <a:off x="8778825" y="5734353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>
                  <a:solidFill>
                    <a:srgbClr val="FF0000"/>
                  </a:solidFill>
                </a:rPr>
                <a:t>Y</a:t>
              </a:r>
              <a:endParaRPr lang="zh-TW" altLang="en-US" dirty="0">
                <a:solidFill>
                  <a:srgbClr val="FF0000"/>
                </a:solidFill>
              </a:endParaRPr>
            </a:p>
          </p:txBody>
        </p:sp>
      </p:grpSp>
      <p:cxnSp>
        <p:nvCxnSpPr>
          <p:cNvPr id="37" name="直線單箭頭接點 36">
            <a:extLst>
              <a:ext uri="{FF2B5EF4-FFF2-40B4-BE49-F238E27FC236}">
                <a16:creationId xmlns:a16="http://schemas.microsoft.com/office/drawing/2014/main" id="{C71E01FE-EFCC-C59E-AE77-4E6375C8A329}"/>
              </a:ext>
            </a:extLst>
          </p:cNvPr>
          <p:cNvCxnSpPr/>
          <p:nvPr/>
        </p:nvCxnSpPr>
        <p:spPr>
          <a:xfrm flipV="1">
            <a:off x="8805542" y="2587986"/>
            <a:ext cx="900433" cy="13008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FE36D40C-3C9E-02C2-B1FF-AD4BB17D3CDE}"/>
              </a:ext>
            </a:extLst>
          </p:cNvPr>
          <p:cNvSpPr txBox="1"/>
          <p:nvPr/>
        </p:nvSpPr>
        <p:spPr>
          <a:xfrm>
            <a:off x="9501866" y="2207279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1976336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C2A81-929A-1831-5F63-85A5A98E6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641255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FEEA4-E2A3-615B-9A70-67589076A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947D1159-D863-3A6F-166D-B79C4BF87A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32892"/>
              </p:ext>
            </p:extLst>
          </p:nvPr>
        </p:nvGraphicFramePr>
        <p:xfrm>
          <a:off x="622300" y="266700"/>
          <a:ext cx="3175000" cy="4000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75000">
                  <a:extLst>
                    <a:ext uri="{9D8B030D-6E8A-4147-A177-3AD203B41FA5}">
                      <a16:colId xmlns:a16="http://schemas.microsoft.com/office/drawing/2014/main" val="3631567145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100" u="none" strike="noStrike" dirty="0">
                          <a:effectLst/>
                        </a:rPr>
                        <a:t>設定 </a:t>
                      </a:r>
                      <a:r>
                        <a:rPr lang="en-US" altLang="zh-TW" sz="1100" u="none" strike="noStrike" dirty="0">
                          <a:effectLst/>
                        </a:rPr>
                        <a:t>10 </a:t>
                      </a:r>
                      <a:r>
                        <a:rPr lang="en-US" sz="1100" u="none" strike="noStrike" dirty="0">
                          <a:effectLst/>
                        </a:rPr>
                        <a:t>Hz </a:t>
                      </a:r>
                      <a:r>
                        <a:rPr lang="zh-TW" altLang="en-US" sz="1100" u="none" strike="noStrike" dirty="0">
                          <a:effectLst/>
                        </a:rPr>
                        <a:t>吐出 </a:t>
                      </a:r>
                      <a:r>
                        <a:rPr lang="en-US" sz="1100" u="none" strike="noStrike" dirty="0">
                          <a:effectLst/>
                        </a:rPr>
                        <a:t>GPS Timestamp (0xFF,0xD3) </a:t>
                      </a:r>
                      <a:r>
                        <a:rPr lang="zh-TW" altLang="en-US" sz="1100" u="none" strike="noStrike" dirty="0">
                          <a:effectLst/>
                        </a:rPr>
                        <a:t>與 </a:t>
                      </a:r>
                      <a:r>
                        <a:rPr lang="en-US" sz="1100" u="none" strike="noStrike" dirty="0">
                          <a:effectLst/>
                        </a:rPr>
                        <a:t>GNSS Dual Antenna Status (0x82,0x49)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37329713"/>
                  </a:ext>
                </a:extLst>
              </a:tr>
            </a:tbl>
          </a:graphicData>
        </a:graphic>
      </p:graphicFrame>
      <p:pic>
        <p:nvPicPr>
          <p:cNvPr id="8" name="圖片 7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198EE553-383B-822E-79A5-AD9D68DF7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438" y="4386410"/>
            <a:ext cx="6611273" cy="1676634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D1C72F6F-1876-B653-23A3-21C2715DCE55}"/>
              </a:ext>
            </a:extLst>
          </p:cNvPr>
          <p:cNvSpPr txBox="1"/>
          <p:nvPr/>
        </p:nvSpPr>
        <p:spPr>
          <a:xfrm>
            <a:off x="622300" y="34290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/>
              <a:t>設定 10 Hz 吐出 GNSS Dual Antenna Status (0x82,0x49) </a:t>
            </a:r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E4642FDD-5A5E-9A42-C16B-9C8D82268457}"/>
              </a:ext>
            </a:extLst>
          </p:cNvPr>
          <p:cNvSpPr txBox="1"/>
          <p:nvPr/>
        </p:nvSpPr>
        <p:spPr>
          <a:xfrm>
            <a:off x="723438" y="383643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effectLst/>
              </a:rPr>
              <a:t>75 65 0C 08 08 0F 01 82 01 49 00 64 36 0F</a:t>
            </a:r>
            <a:endParaRPr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84186F1A-AAFA-AD77-4E90-0164ABA2622D}"/>
              </a:ext>
            </a:extLst>
          </p:cNvPr>
          <p:cNvSpPr txBox="1"/>
          <p:nvPr/>
        </p:nvSpPr>
        <p:spPr>
          <a:xfrm>
            <a:off x="457200" y="84739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effectLst/>
              </a:rPr>
              <a:t>75 65 0C 0B </a:t>
            </a:r>
            <a:r>
              <a:rPr lang="en-US" altLang="zh-TW" dirty="0" err="1">
                <a:effectLst/>
              </a:rPr>
              <a:t>0B</a:t>
            </a:r>
            <a:r>
              <a:rPr lang="en-US" altLang="zh-TW" dirty="0">
                <a:effectLst/>
              </a:rPr>
              <a:t> 0F 01 82 02 D3 00 64 49 00 64 74 78</a:t>
            </a:r>
            <a:endParaRPr lang="zh-TW" altLang="en-US" dirty="0"/>
          </a:p>
        </p:txBody>
      </p: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913C8F65-1503-C45C-E4C1-E892096B7BF3}"/>
              </a:ext>
            </a:extLst>
          </p:cNvPr>
          <p:cNvGrpSpPr/>
          <p:nvPr/>
        </p:nvGrpSpPr>
        <p:grpSpPr>
          <a:xfrm>
            <a:off x="723438" y="1397374"/>
            <a:ext cx="10069330" cy="1819529"/>
            <a:chOff x="563245" y="1397374"/>
            <a:chExt cx="10069330" cy="1819529"/>
          </a:xfrm>
        </p:grpSpPr>
        <p:pic>
          <p:nvPicPr>
            <p:cNvPr id="6" name="圖片 5" descr="一張含有 文字, 螢幕擷取畫面, 字型, 數字 的圖片&#10;&#10;AI 產生的內容可能不正確。">
              <a:extLst>
                <a:ext uri="{FF2B5EF4-FFF2-40B4-BE49-F238E27FC236}">
                  <a16:creationId xmlns:a16="http://schemas.microsoft.com/office/drawing/2014/main" id="{23D7A80F-C2E2-9CBC-4C5C-0ECC19355C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3245" y="1397374"/>
              <a:ext cx="10069330" cy="1819529"/>
            </a:xfrm>
            <a:prstGeom prst="rect">
              <a:avLst/>
            </a:prstGeom>
          </p:spPr>
        </p:pic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4EAD0900-98A9-85A7-977B-4C3B9E17A2AA}"/>
                </a:ext>
              </a:extLst>
            </p:cNvPr>
            <p:cNvSpPr/>
            <p:nvPr/>
          </p:nvSpPr>
          <p:spPr>
            <a:xfrm>
              <a:off x="1617345" y="1577345"/>
              <a:ext cx="3609975" cy="20002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FF229223-905F-5F77-91D8-58578744BAD7}"/>
                </a:ext>
              </a:extLst>
            </p:cNvPr>
            <p:cNvSpPr/>
            <p:nvPr/>
          </p:nvSpPr>
          <p:spPr>
            <a:xfrm>
              <a:off x="5227320" y="1577345"/>
              <a:ext cx="4876800" cy="20002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8032520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BAB80-1AD4-182A-6126-B1E69A3C1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AA4F4115-78F2-8A71-F791-5AC077370203}"/>
              </a:ext>
            </a:extLst>
          </p:cNvPr>
          <p:cNvSpPr txBox="1"/>
          <p:nvPr/>
        </p:nvSpPr>
        <p:spPr>
          <a:xfrm>
            <a:off x="3377045" y="2413337"/>
            <a:ext cx="403187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6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資料流程圖</a:t>
            </a:r>
          </a:p>
        </p:txBody>
      </p:sp>
    </p:spTree>
    <p:extLst>
      <p:ext uri="{BB962C8B-B14F-4D97-AF65-F5344CB8AC3E}">
        <p14:creationId xmlns:p14="http://schemas.microsoft.com/office/powerpoint/2010/main" val="362249575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08398-C27D-D108-4932-A70A00A14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B0EBE2A-CBEA-FC23-C13F-783D93DD457B}"/>
              </a:ext>
            </a:extLst>
          </p:cNvPr>
          <p:cNvSpPr/>
          <p:nvPr/>
        </p:nvSpPr>
        <p:spPr>
          <a:xfrm>
            <a:off x="4391025" y="752475"/>
            <a:ext cx="2181225" cy="6477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>
                <a:solidFill>
                  <a:sysClr val="windowText" lastClr="000000"/>
                </a:solidFill>
              </a:rPr>
              <a:t>acq_hins</a:t>
            </a:r>
            <a:endParaRPr lang="zh-TW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0162572-F93B-E80D-5E39-357C0973D7F6}"/>
              </a:ext>
            </a:extLst>
          </p:cNvPr>
          <p:cNvSpPr/>
          <p:nvPr/>
        </p:nvSpPr>
        <p:spPr>
          <a:xfrm>
            <a:off x="4391024" y="1790700"/>
            <a:ext cx="2181225" cy="6477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</a:rPr>
              <a:t>read</a:t>
            </a:r>
            <a:endParaRPr lang="zh-TW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DF28C46-C2C5-D94C-6D2D-5ECEC270C406}"/>
              </a:ext>
            </a:extLst>
          </p:cNvPr>
          <p:cNvSpPr/>
          <p:nvPr/>
        </p:nvSpPr>
        <p:spPr>
          <a:xfrm>
            <a:off x="2990849" y="3086100"/>
            <a:ext cx="2181225" cy="6477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>
                <a:solidFill>
                  <a:sysClr val="windowText" lastClr="000000"/>
                </a:solidFill>
              </a:rPr>
              <a:t>Ahrs</a:t>
            </a:r>
            <a:r>
              <a:rPr lang="en-US" altLang="zh-TW" dirty="0">
                <a:solidFill>
                  <a:sysClr val="windowText" lastClr="000000"/>
                </a:solidFill>
              </a:rPr>
              <a:t> data stream@ 100 Hz</a:t>
            </a:r>
            <a:endParaRPr lang="zh-TW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C0702CD-9FB7-BB4E-598E-83271CF5A2CA}"/>
              </a:ext>
            </a:extLst>
          </p:cNvPr>
          <p:cNvSpPr/>
          <p:nvPr/>
        </p:nvSpPr>
        <p:spPr>
          <a:xfrm>
            <a:off x="6096000" y="3086100"/>
            <a:ext cx="2181225" cy="6477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</a:rPr>
              <a:t>Timestamp, GNSS DA @ 10 Hz</a:t>
            </a:r>
            <a:endParaRPr lang="zh-TW" alt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7" name="接點: 肘形 6">
            <a:extLst>
              <a:ext uri="{FF2B5EF4-FFF2-40B4-BE49-F238E27FC236}">
                <a16:creationId xmlns:a16="http://schemas.microsoft.com/office/drawing/2014/main" id="{FEB35C2E-6E54-6AC1-09DE-8D9F3C35E484}"/>
              </a:ext>
            </a:extLst>
          </p:cNvPr>
          <p:cNvCxnSpPr>
            <a:stCxn id="3" idx="2"/>
            <a:endCxn id="4" idx="0"/>
          </p:cNvCxnSpPr>
          <p:nvPr/>
        </p:nvCxnSpPr>
        <p:spPr>
          <a:xfrm rot="5400000">
            <a:off x="4457700" y="2062163"/>
            <a:ext cx="647700" cy="140017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接點: 肘形 8">
            <a:extLst>
              <a:ext uri="{FF2B5EF4-FFF2-40B4-BE49-F238E27FC236}">
                <a16:creationId xmlns:a16="http://schemas.microsoft.com/office/drawing/2014/main" id="{76185AA2-CD86-5772-3EED-98E323A0A407}"/>
              </a:ext>
            </a:extLst>
          </p:cNvPr>
          <p:cNvCxnSpPr>
            <a:stCxn id="3" idx="2"/>
            <a:endCxn id="5" idx="0"/>
          </p:cNvCxnSpPr>
          <p:nvPr/>
        </p:nvCxnSpPr>
        <p:spPr>
          <a:xfrm rot="16200000" flipH="1">
            <a:off x="6010275" y="1909762"/>
            <a:ext cx="647700" cy="170497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11B6D395-11FD-81EC-9330-E7862AB0A308}"/>
              </a:ext>
            </a:extLst>
          </p:cNvPr>
          <p:cNvSpPr/>
          <p:nvPr/>
        </p:nvSpPr>
        <p:spPr>
          <a:xfrm>
            <a:off x="6095999" y="4381500"/>
            <a:ext cx="2181225" cy="6477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ysClr val="windowText" lastClr="000000"/>
                </a:solidFill>
              </a:rPr>
              <a:t>監控</a:t>
            </a:r>
          </a:p>
        </p:txBody>
      </p:sp>
    </p:spTree>
    <p:extLst>
      <p:ext uri="{BB962C8B-B14F-4D97-AF65-F5344CB8AC3E}">
        <p14:creationId xmlns:p14="http://schemas.microsoft.com/office/powerpoint/2010/main" val="3461838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5928E-7307-B306-75E9-E57756F43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AD46E56-B93D-B375-7C7F-A60F0905F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" y="653533"/>
            <a:ext cx="11982450" cy="5293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您的架構非常清晰且高明！您採用的是一種**「外部 IMU 作為慣性飛輪 (Inertial Flywheel)」**的策略。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這是一個非常標準且穩健的解決方案。使用 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Arial Unicode MS"/>
                <a:ea typeface="Google Sans Text"/>
              </a:rPr>
              <a:t>GNSS Dual Antenna Status (0x82, 0x49)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ea typeface="Google Sans Text"/>
              </a:rPr>
              <a:t> 是</a:t>
            </a:r>
            <a:r>
              <a:rPr kumimoji="0" lang="zh-TW" altLang="zh-TW" sz="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絕對正確的選擇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，因為它是直接來自 GNSS 接收器的原始測量值（Measurement Domain），而不是經過 Filter 融合後的輸出的值（Filter Domain），這完美避免了「拿濾波器輸出來修正濾波器」的</a:t>
            </a:r>
            <a:r>
              <a:rPr kumimoji="0" lang="zh-TW" altLang="zh-TW" sz="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正回授 (Positive Feedback)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 風險。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針對您的應用場合，我們來將流程定案，並補充關於</a:t>
            </a:r>
            <a:r>
              <a:rPr kumimoji="0" lang="zh-TW" altLang="zh-TW" sz="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切換時機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與</a:t>
            </a:r>
            <a:r>
              <a:rPr kumimoji="0" lang="zh-TW" altLang="zh-TW" sz="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誤差設定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的關鍵細節，以確保在 GNSS 消失的瞬間能平滑過渡。</a:t>
            </a:r>
            <a:endParaRPr kumimoji="0" lang="zh-TW" altLang="zh-TW" sz="800" b="1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Arial" panose="020B0604020202020204" pitchFamily="34" charset="0"/>
              <a:ea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"/>
              </a:rPr>
              <a:t>最終確認的操作流程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800" b="1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Arial" panose="020B0604020202020204" pitchFamily="34" charset="0"/>
              <a:ea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"/>
              </a:rPr>
              <a:t>1. 初始化配置 (Configuration Phase)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這部分只需上電時做一次。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設定 Aiding Frame: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 發送 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Arial Unicode MS"/>
                <a:ea typeface="Google Sans Text"/>
              </a:rPr>
              <a:t>Frame Configuration (0x13, 0x01)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ea typeface="Google Sans Text"/>
              </a:rPr>
              <a:t>，將 </a:t>
            </a:r>
            <a:r>
              <a:rPr kumimoji="0" lang="zh-TW" altLang="zh-TW" sz="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Frame ID 1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 設定為外部 IMU 與 HINS 之間的機構旋轉關係（Body Frame 到 Sensor Frame 的旋轉）。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啟用外部航向: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 發送 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Arial Unicode MS"/>
                <a:ea typeface="Google Sans Text"/>
              </a:rPr>
              <a:t>Aiding Measurement Control (0x0D, 0x50)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ea typeface="Google Sans Text"/>
              </a:rPr>
              <a:t>，啟用 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Arial Unicode MS"/>
                <a:ea typeface="Google Sans Text"/>
              </a:rPr>
              <a:t>EXTERNAL_HEADING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ea typeface="Google Sans Text"/>
              </a:rPr>
              <a:t>。</a:t>
            </a:r>
            <a:endParaRPr kumimoji="0" lang="zh-TW" altLang="zh-TW" sz="800" b="0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設定資料輸出: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 使用 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Arial Unicode MS"/>
                <a:ea typeface="Google Sans Text"/>
              </a:rPr>
              <a:t>Set Message Format (0x0C, 0x0F)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ea typeface="Google Sans Text"/>
              </a:rPr>
              <a:t>，確保 HINS 定期輸出：</a:t>
            </a:r>
            <a:endParaRPr kumimoji="0" lang="zh-TW" altLang="zh-TW" sz="800" b="0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Arial Unicode MS"/>
                <a:ea typeface="Google Sans Text"/>
              </a:rPr>
              <a:t>GNSS Dual Antenna Status (0x82, 0x49)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ea typeface="Google Sans Text"/>
              </a:rPr>
              <a:t>：用於獲取真北參考。</a:t>
            </a:r>
            <a:endParaRPr kumimoji="0" lang="zh-TW" altLang="zh-TW" sz="800" b="0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Arial Unicode MS"/>
                <a:ea typeface="Google Sans Text"/>
              </a:rPr>
              <a:t>GPS Timestamp (0xFF, 0xD3)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ea typeface="Google Sans Text"/>
              </a:rPr>
              <a:t>：用於時間同步。</a:t>
            </a:r>
            <a:endParaRPr kumimoji="0" lang="zh-TW" altLang="zh-TW" sz="800" b="0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800" b="1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Arial" panose="020B0604020202020204" pitchFamily="34" charset="0"/>
              <a:ea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"/>
              </a:rPr>
              <a:t>2. 運行迴圈 (Runtime Loop) - MCU 邏輯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您的 MCU 程式邏輯應分為兩個狀態：</a:t>
            </a:r>
            <a:r>
              <a:rPr kumimoji="0" lang="zh-TW" altLang="zh-TW" sz="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「校正狀態 (GNSS Good)」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 與 </a:t>
            </a:r>
            <a:r>
              <a:rPr kumimoji="0" lang="zh-TW" altLang="zh-TW" sz="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「保持狀態 (GNSS Lost)」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狀態 A：校正狀態 (GNSS 訊號良好)</a:t>
            </a:r>
            <a:endParaRPr kumimoji="0" lang="zh-TW" altLang="zh-TW" sz="800" b="0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判斷依據：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 檢查 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Arial Unicode MS"/>
                <a:ea typeface="Google Sans Text"/>
              </a:rPr>
              <a:t>0x82, 0x49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ea typeface="Google Sans Text"/>
              </a:rPr>
              <a:t> 封包中的 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Arial Unicode MS"/>
                <a:ea typeface="Google Sans Text"/>
              </a:rPr>
              <a:t>Fix Type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ea typeface="Google Sans Text"/>
              </a:rPr>
              <a:t> 是否為 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Arial Unicode MS"/>
                <a:ea typeface="Google Sans Text"/>
              </a:rPr>
              <a:t>FIX_DA_FIXED (2)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ea typeface="Google Sans Text"/>
              </a:rPr>
              <a:t> 或 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Arial Unicode MS"/>
                <a:ea typeface="Google Sans Text"/>
              </a:rPr>
              <a:t>FIX_DA_FLOAT (1)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ea typeface="Google Sans Text"/>
              </a:rPr>
              <a:t>，且 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Arial Unicode MS"/>
                <a:ea typeface="Google Sans Text"/>
              </a:rPr>
              <a:t>Valid Flags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ea typeface="Google Sans Text"/>
              </a:rPr>
              <a:t> 有效 。</a:t>
            </a:r>
            <a:endParaRPr kumimoji="0" lang="zh-TW" altLang="zh-TW" sz="800" b="0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MCU 動作：</a:t>
            </a:r>
            <a:endParaRPr kumimoji="0" lang="zh-TW" altLang="zh-TW" sz="800" b="0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讀取 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Arial Unicode MS"/>
                <a:ea typeface="Google Sans Text"/>
              </a:rPr>
              <a:t>heading_DA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ea typeface="Google Sans Text"/>
              </a:rPr>
              <a:t> (來自 HINS 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Arial Unicode MS"/>
                <a:ea typeface="Google Sans Text"/>
              </a:rPr>
              <a:t>0x82, 0x49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ea typeface="Google Sans Text"/>
              </a:rPr>
              <a:t>)。</a:t>
            </a:r>
            <a:endParaRPr kumimoji="0" lang="zh-TW" altLang="zh-TW" sz="800" b="0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讀取 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Arial Unicode MS"/>
                <a:ea typeface="Google Sans Text"/>
              </a:rPr>
              <a:t>heading_IMU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ea typeface="Google Sans Text"/>
              </a:rPr>
              <a:t> (來自外部 IMU)。</a:t>
            </a:r>
            <a:endParaRPr kumimoji="0" lang="zh-TW" altLang="zh-TW" sz="800" b="0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zh-TW" altLang="zh-TW" sz="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更新 Offset：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 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Arial Unicode MS"/>
                <a:ea typeface="Google Sans Text"/>
              </a:rPr>
              <a:t>Offset = heading_DA - heading_IMU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ea typeface="Google Sans Text"/>
              </a:rPr>
              <a:t>。</a:t>
            </a:r>
            <a:endParaRPr kumimoji="0" lang="zh-TW" altLang="zh-TW" sz="800" b="0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800" b="0" i="1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建議：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 對 Offset 進行滑動平均 (Moving Average) 或低通濾波，以消除瞬時雜訊。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zh-TW" altLang="zh-TW" sz="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是否發送數據給 HINS？</a:t>
            </a:r>
            <a:endParaRPr kumimoji="0" lang="zh-TW" altLang="zh-TW" sz="800" b="0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選項 1 (推薦)：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 </a:t>
            </a:r>
            <a:r>
              <a:rPr kumimoji="0" lang="zh-TW" altLang="zh-TW" sz="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不發送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，或者發送時將 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Arial Unicode MS"/>
                <a:ea typeface="Google Sans Text"/>
              </a:rPr>
              <a:t>Uncertainty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ea typeface="Google Sans Text"/>
              </a:rPr>
              <a:t> 設得很大（例如 1.0弧度）。</a:t>
            </a:r>
            <a:endParaRPr kumimoji="0" lang="zh-TW" altLang="zh-TW" sz="800" b="0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800" b="0" i="1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理由：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 此時 HINS 已經有準確的 Dual Antenna Heading，如果再餵給它一個由 Dual Antenna 算出來的數據，意義不大，且可能造成濾波器對誤差估計過於樂觀。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狀態 B：保持狀態 (GNSS 訊號消失/品質不佳)</a:t>
            </a:r>
            <a:endParaRPr kumimoji="0" lang="zh-TW" altLang="zh-TW" sz="800" b="0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判斷依據：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 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Arial Unicode MS"/>
                <a:ea typeface="Google Sans Text"/>
              </a:rPr>
              <a:t>0x82, 0x49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ea typeface="Google Sans Text"/>
              </a:rPr>
              <a:t> 的 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Arial Unicode MS"/>
                <a:ea typeface="Google Sans Text"/>
              </a:rPr>
              <a:t>Fix Type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ea typeface="Google Sans Text"/>
              </a:rPr>
              <a:t> 變為 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Arial Unicode MS"/>
                <a:ea typeface="Google Sans Text"/>
              </a:rPr>
              <a:t>FIX_NONE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ea typeface="Google Sans Text"/>
              </a:rPr>
              <a:t>，或 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Arial Unicode MS"/>
                <a:ea typeface="Google Sans Text"/>
              </a:rPr>
              <a:t>Valid Flags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ea typeface="Google Sans Text"/>
              </a:rPr>
              <a:t> 無效。</a:t>
            </a:r>
            <a:endParaRPr kumimoji="0" lang="zh-TW" altLang="zh-TW" sz="800" b="0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MCU 動作：</a:t>
            </a:r>
            <a:endParaRPr kumimoji="0" lang="zh-TW" altLang="zh-TW" sz="800" b="0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zh-TW" altLang="zh-TW" sz="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停止更新 Offset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 (鎖定使用最後一次良好的 Offset 值)。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zh-TW" altLang="zh-TW" sz="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計算真北航向：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 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Arial Unicode MS"/>
                <a:ea typeface="Google Sans Text"/>
              </a:rPr>
              <a:t>heading_IMU_TN = heading_IMU + Offset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ea typeface="Google Sans Text"/>
              </a:rPr>
              <a:t>。</a:t>
            </a:r>
            <a:endParaRPr kumimoji="0" lang="zh-TW" altLang="zh-TW" sz="800" b="0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zh-TW" altLang="zh-TW" sz="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發送數據：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 使用 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Arial Unicode MS"/>
                <a:ea typeface="Google Sans Text"/>
              </a:rPr>
              <a:t>True Heading (0x13, 0x31)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ea typeface="Google Sans Text"/>
              </a:rPr>
              <a:t> 發送給 HINS。</a:t>
            </a:r>
            <a:endParaRPr kumimoji="0" lang="zh-TW" altLang="zh-TW" sz="800" b="0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zh-TW" altLang="zh-TW" sz="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填寫參數：</a:t>
            </a:r>
            <a:endParaRPr kumimoji="0" lang="zh-TW" altLang="zh-TW" sz="800" b="0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Arial Unicode MS"/>
                <a:ea typeface="Google Sans Text"/>
              </a:rPr>
              <a:t>Frame ID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ea typeface="Google Sans Text"/>
              </a:rPr>
              <a:t>: </a:t>
            </a:r>
            <a:r>
              <a:rPr kumimoji="0" lang="zh-TW" altLang="zh-TW" sz="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1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。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Arial Unicode MS"/>
                <a:ea typeface="Google Sans Text"/>
              </a:rPr>
              <a:t>Time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ea typeface="Google Sans Text"/>
              </a:rPr>
              <a:t>: 填入採樣時刻的 GPS TOW。</a:t>
            </a:r>
            <a:endParaRPr kumimoji="0" lang="zh-TW" altLang="zh-TW" sz="800" b="0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Arial Unicode MS"/>
                <a:ea typeface="Google Sans Text"/>
              </a:rPr>
              <a:t>Heading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ea typeface="Google Sans Text"/>
              </a:rPr>
              <a:t>: 填入 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Arial Unicode MS"/>
                <a:ea typeface="Google Sans Text"/>
              </a:rPr>
              <a:t>heading_IMU_TN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ea typeface="Google Sans Text"/>
              </a:rPr>
              <a:t>。</a:t>
            </a:r>
            <a:endParaRPr kumimoji="0" lang="zh-TW" altLang="zh-TW" sz="800" b="0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Arial Unicode MS"/>
                <a:ea typeface="Google Sans Text"/>
              </a:rPr>
              <a:t>Uncertainty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ea typeface="Google Sans Text"/>
              </a:rPr>
              <a:t>: </a:t>
            </a:r>
            <a:r>
              <a:rPr kumimoji="0" lang="zh-TW" altLang="zh-TW" sz="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這很關鍵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。這裡填入的數值應該反映您的外部 IMU 在積分一段時間後的漂移量（例如 0.05 ~ 0.1 弧度）。不要填得太小，否則 HINS 會過度相信這個開始漂移的數據。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800" b="1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Arial" panose="020B0604020202020204" pitchFamily="34" charset="0"/>
              <a:ea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"/>
              </a:rPr>
              <a:t>為什麼這套流程有效？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zh-TW" altLang="zh-TW" sz="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Frame ID (0x13, 0x31) 解決了機構座標問題：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 HINS 自動處理 Body Frame 到 Sensor Frame 的旋轉。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zh-TW" altLang="zh-TW" sz="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Offset 解決了地理座標問題：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 您利用 GNSS 良好的時候動態校正了起始點差異。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zh-TW" altLang="zh-TW" sz="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平滑切換：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 當 GNSS 消失瞬間，HINS 的濾波器原本依賴 Dual Antenna，現在無縫接軌收到一個與 Dual Antenna "相位一致" 的外部 Heading。這能防止航向角在切換訊號源時發生突跳 (Jump)，保證導航解算的連續性。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這套架構非常完善，只要 MCU 的時間戳記處理得當，能夠在 GNSS 拒止環境下顯著提升導航的存活時間。</a:t>
            </a:r>
            <a:endParaRPr kumimoji="0" lang="zh-TW" altLang="zh-TW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169474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C0545-FBBB-BC11-9CAA-48D96DA88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圖書, 黑與白 的圖片&#10;&#10;AI 產生的內容可能不正確。">
            <a:extLst>
              <a:ext uri="{FF2B5EF4-FFF2-40B4-BE49-F238E27FC236}">
                <a16:creationId xmlns:a16="http://schemas.microsoft.com/office/drawing/2014/main" id="{F793C322-BE57-74A9-64D6-E9DA1CB5E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8575" y="942628"/>
            <a:ext cx="5734850" cy="497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31906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7B30C-D4CA-D726-AA7E-7D9DDAFCD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 descr="一張含有 服裝, 布, 樣式, 單色 的圖片&#10;&#10;AI 產生的內容可能不正確。">
            <a:extLst>
              <a:ext uri="{FF2B5EF4-FFF2-40B4-BE49-F238E27FC236}">
                <a16:creationId xmlns:a16="http://schemas.microsoft.com/office/drawing/2014/main" id="{1C6049E9-AD4B-8F5A-A877-494566782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234"/>
            <a:ext cx="6154009" cy="5677692"/>
          </a:xfrm>
          <a:prstGeom prst="rect">
            <a:avLst/>
          </a:prstGeom>
        </p:spPr>
      </p:pic>
      <p:pic>
        <p:nvPicPr>
          <p:cNvPr id="9" name="圖片 8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563C7585-31AE-A762-C03B-ED91A3E3A3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508790"/>
            <a:ext cx="2772162" cy="135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54222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0AA21-1C71-3D46-874C-0FC5A8751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 descr="一張含有 樣式, 服裝, 布, 單色 的圖片&#10;&#10;AI 產生的內容可能不正確。">
            <a:extLst>
              <a:ext uri="{FF2B5EF4-FFF2-40B4-BE49-F238E27FC236}">
                <a16:creationId xmlns:a16="http://schemas.microsoft.com/office/drawing/2014/main" id="{13DE44E0-9B3F-263A-0C4D-4454D52E4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20" y="87244"/>
            <a:ext cx="6439799" cy="5525271"/>
          </a:xfrm>
          <a:prstGeom prst="rect">
            <a:avLst/>
          </a:prstGeom>
        </p:spPr>
      </p:pic>
      <p:pic>
        <p:nvPicPr>
          <p:cNvPr id="9" name="圖片 8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9CB76FC5-0159-3F89-BB68-17C51A43EF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468" y="2057209"/>
            <a:ext cx="2743583" cy="1371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97607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69B49-B3E4-3C2A-D56E-40129C79A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7933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2339</TotalTime>
  <Words>1513</Words>
  <Application>Microsoft Office PowerPoint</Application>
  <PresentationFormat>寬螢幕</PresentationFormat>
  <Paragraphs>120</Paragraphs>
  <Slides>58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58</vt:i4>
      </vt:variant>
    </vt:vector>
  </HeadingPairs>
  <TitlesOfParts>
    <vt:vector size="66" baseType="lpstr">
      <vt:lpstr>Arial Unicode MS</vt:lpstr>
      <vt:lpstr>Google Sans Text</vt:lpstr>
      <vt:lpstr>微軟正黑體</vt:lpstr>
      <vt:lpstr>新細明體</vt:lpstr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博文 蕭</dc:creator>
  <cp:lastModifiedBy>博文 蕭</cp:lastModifiedBy>
  <cp:revision>31</cp:revision>
  <dcterms:created xsi:type="dcterms:W3CDTF">2026-01-23T02:32:12Z</dcterms:created>
  <dcterms:modified xsi:type="dcterms:W3CDTF">2026-01-24T17:31:32Z</dcterms:modified>
</cp:coreProperties>
</file>